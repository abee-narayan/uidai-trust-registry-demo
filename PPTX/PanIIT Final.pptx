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  <p:sldMasterId id="2147483707" r:id="rId3"/>
    <p:sldMasterId id="2147483708" r:id="rId4"/>
    <p:sldMasterId id="2147483709" r:id="rId5"/>
    <p:sldMasterId id="2147483710" r:id="rId6"/>
  </p:sldMasterIdLst>
  <p:notesMasterIdLst>
    <p:notesMasterId r:id="rId4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89" r:id="rId14"/>
    <p:sldId id="290" r:id="rId15"/>
    <p:sldId id="263" r:id="rId16"/>
    <p:sldId id="264" r:id="rId17"/>
    <p:sldId id="265" r:id="rId18"/>
    <p:sldId id="266" r:id="rId19"/>
    <p:sldId id="267" r:id="rId20"/>
    <p:sldId id="268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8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42"/>
      <p:bold r:id="rId43"/>
      <p:italic r:id="rId44"/>
      <p:boldItalic r:id="rId45"/>
    </p:embeddedFont>
    <p:embeddedFont>
      <p:font typeface="IBM Plex Sans" panose="020B0503050203000203" pitchFamily="34" charset="0"/>
      <p:regular r:id="rId46"/>
      <p:bold r:id="rId47"/>
      <p:italic r:id="rId48"/>
      <p:boldItalic r:id="rId49"/>
    </p:embeddedFont>
    <p:embeddedFont>
      <p:font typeface="Instrument Sans" panose="020B0604020202020204" charset="0"/>
      <p:regular r:id="rId50"/>
      <p:bold r:id="rId51"/>
      <p:italic r:id="rId52"/>
      <p:boldItalic r:id="rId53"/>
    </p:embeddedFont>
    <p:embeddedFont>
      <p:font typeface="Inter" panose="020B0604020202020204" charset="0"/>
      <p:regular r:id="rId54"/>
      <p:bold r:id="rId55"/>
      <p:italic r:id="rId56"/>
      <p:boldItalic r:id="rId57"/>
    </p:embeddedFont>
    <p:embeddedFont>
      <p:font typeface="Noto Sans" panose="020B0502040504020204" pitchFamily="34" charset="0"/>
      <p:regular r:id="rId58"/>
      <p:bold r:id="rId59"/>
      <p:italic r:id="rId60"/>
      <p:boldItalic r:id="rId61"/>
    </p:embeddedFont>
    <p:embeddedFont>
      <p:font typeface="Noto Serif Devanagari" panose="020B0604020202020204" charset="0"/>
      <p:regular r:id="rId62"/>
      <p:bold r:id="rId63"/>
    </p:embeddedFont>
    <p:embeddedFont>
      <p:font typeface="Poppins" panose="00000500000000000000" pitchFamily="2" charset="0"/>
      <p:regular r:id="rId64"/>
      <p:bold r:id="rId65"/>
      <p:italic r:id="rId66"/>
      <p:boldItalic r:id="rId67"/>
    </p:embeddedFont>
    <p:embeddedFont>
      <p:font typeface="Poppins Medium" panose="00000600000000000000" pitchFamily="2" charset="0"/>
      <p:regular r:id="rId68"/>
      <p:bold r:id="rId69"/>
      <p:italic r:id="rId70"/>
      <p:boldItalic r:id="rId71"/>
    </p:embeddedFont>
    <p:embeddedFont>
      <p:font typeface="Roboto" panose="02000000000000000000" pitchFamily="2" charset="0"/>
      <p:regular r:id="rId72"/>
      <p:bold r:id="rId73"/>
      <p:italic r:id="rId74"/>
      <p:boldItalic r:id="rId75"/>
    </p:embeddedFont>
    <p:embeddedFont>
      <p:font typeface="Trebuchet MS" panose="020B0603020202020204" pitchFamily="34" charset="0"/>
      <p:regular r:id="rId76"/>
      <p:bold r:id="rId77"/>
      <p:italic r:id="rId78"/>
      <p:boldItalic r:id="rId7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63" Type="http://schemas.openxmlformats.org/officeDocument/2006/relationships/font" Target="fonts/font22.fntdata"/><Relationship Id="rId68" Type="http://schemas.openxmlformats.org/officeDocument/2006/relationships/font" Target="fonts/font27.fntdata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74" Type="http://schemas.openxmlformats.org/officeDocument/2006/relationships/font" Target="fonts/font33.fntdata"/><Relationship Id="rId79" Type="http://schemas.openxmlformats.org/officeDocument/2006/relationships/font" Target="fonts/font38.fntdata"/><Relationship Id="rId5" Type="http://schemas.openxmlformats.org/officeDocument/2006/relationships/slideMaster" Target="slideMasters/slideMaster5.xml"/><Relationship Id="rId61" Type="http://schemas.openxmlformats.org/officeDocument/2006/relationships/font" Target="fonts/font20.fntdata"/><Relationship Id="rId82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font" Target="fonts/font23.fntdata"/><Relationship Id="rId69" Type="http://schemas.openxmlformats.org/officeDocument/2006/relationships/font" Target="fonts/font28.fntdata"/><Relationship Id="rId77" Type="http://schemas.openxmlformats.org/officeDocument/2006/relationships/font" Target="fonts/font36.fntdata"/><Relationship Id="rId8" Type="http://schemas.openxmlformats.org/officeDocument/2006/relationships/slide" Target="slides/slide2.xml"/><Relationship Id="rId51" Type="http://schemas.openxmlformats.org/officeDocument/2006/relationships/font" Target="fonts/font10.fntdata"/><Relationship Id="rId72" Type="http://schemas.openxmlformats.org/officeDocument/2006/relationships/font" Target="fonts/font31.fntdata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67" Type="http://schemas.openxmlformats.org/officeDocument/2006/relationships/font" Target="fonts/font26.fntdata"/><Relationship Id="rId20" Type="http://schemas.openxmlformats.org/officeDocument/2006/relationships/slide" Target="slides/slide14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font" Target="fonts/font21.fntdata"/><Relationship Id="rId70" Type="http://schemas.openxmlformats.org/officeDocument/2006/relationships/font" Target="fonts/font29.fntdata"/><Relationship Id="rId75" Type="http://schemas.openxmlformats.org/officeDocument/2006/relationships/font" Target="fonts/font34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openxmlformats.org/officeDocument/2006/relationships/font" Target="fonts/font24.fntdata"/><Relationship Id="rId73" Type="http://schemas.openxmlformats.org/officeDocument/2006/relationships/font" Target="fonts/font32.fntdata"/><Relationship Id="rId78" Type="http://schemas.openxmlformats.org/officeDocument/2006/relationships/font" Target="fonts/font37.fntdata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6" Type="http://schemas.openxmlformats.org/officeDocument/2006/relationships/font" Target="fonts/font35.fntdata"/><Relationship Id="rId7" Type="http://schemas.openxmlformats.org/officeDocument/2006/relationships/slide" Target="slides/slide1.xml"/><Relationship Id="rId71" Type="http://schemas.openxmlformats.org/officeDocument/2006/relationships/font" Target="fonts/font30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font" Target="fonts/font4.fntdata"/><Relationship Id="rId66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223fa7f9e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3e223fa7f9e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226e89a58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3e226e89a58_4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223fa7f9e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3e223fa7f9e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223fa7f9e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3e223fa7f9e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223fa7f9e_0_6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e223fa7f9e_0_6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223fa7f9e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3e223fa7f9e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896" y="1143000"/>
            <a:ext cx="5484209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226e89a5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g3e226e89a5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0A0AB37D-A8E8-E5EA-9C3B-089C76C1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226e89a58_0_26:notes">
            <a:extLst>
              <a:ext uri="{FF2B5EF4-FFF2-40B4-BE49-F238E27FC236}">
                <a16:creationId xmlns:a16="http://schemas.microsoft.com/office/drawing/2014/main" id="{E3223A33-5266-8DAF-F0A9-F67D46B0B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g3e226e89a58_0_26:notes">
            <a:extLst>
              <a:ext uri="{FF2B5EF4-FFF2-40B4-BE49-F238E27FC236}">
                <a16:creationId xmlns:a16="http://schemas.microsoft.com/office/drawing/2014/main" id="{86395EAF-7B00-CA36-0FA5-BD6D87793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87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46AFB2F2-64E7-E98D-5EBB-A7FA7BFC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226e89a58_0_26:notes">
            <a:extLst>
              <a:ext uri="{FF2B5EF4-FFF2-40B4-BE49-F238E27FC236}">
                <a16:creationId xmlns:a16="http://schemas.microsoft.com/office/drawing/2014/main" id="{28C5DEBA-7E84-E933-4050-C9C5C5184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g3e226e89a58_0_26:notes">
            <a:extLst>
              <a:ext uri="{FF2B5EF4-FFF2-40B4-BE49-F238E27FC236}">
                <a16:creationId xmlns:a16="http://schemas.microsoft.com/office/drawing/2014/main" id="{F0595756-9C79-14B4-E657-220028B25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962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223fa7f9e_4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3e223fa7f9e_4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e223fa7f9e_4_1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226e89a58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3e226e89a58_0_2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g3e226e89a58_0_2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226e89a5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g3e226e89a58_0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g3e226e89a58_0_2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226e89a58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g3e226e89a58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3e226e89a58_0_1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e226e89a5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g3e226e89a58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g3e226e89a58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226e89a58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g3e226e89a58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3e226e89a58_0_1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223fa7f9e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g3e223fa7f9e_0_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226e89a58_1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7" name="Google Shape;517;g3e226e89a58_1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226e89a58_1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g3e226e89a58_1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223fa7f9e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g3e223fa7f9e_0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e226e89a58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8" name="Google Shape;638;g3e226e89a58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223fa7f9e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2" name="Google Shape;682;g3e223fa7f9e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e223fa7f9e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5" name="Google Shape;695;g3e223fa7f9e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e223fa7f9e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g3e223fa7f9e_0_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e223fa7f9e_0_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g3e223fa7f9e_0_7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e223fa7f9e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9" name="Google Shape;739;g3e223fa7f9e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e276480512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g3e276480512_2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e226e89a58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g3e226e89a58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e226e89a58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5" name="Google Shape;795;g3e226e89a58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e223fa7f9e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3e223fa7f9e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e226e89a58_6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0" name="Google Shape;830;g3e226e89a58_6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e226e89a58_6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g3e226e89a58_6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l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e226e89a58_6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8" name="Google Shape;888;g3e226e89a58_6_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e226e89a58_6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4" name="Google Shape;924;g3e226e89a58_6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1. Score Consistency / Stability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Measure how stable the </a:t>
            </a:r>
            <a:r>
              <a:rPr lang="en" b="1">
                <a:solidFill>
                  <a:schemeClr val="dk1"/>
                </a:solidFill>
              </a:rPr>
              <a:t>matching score</a:t>
            </a:r>
            <a:r>
              <a:rPr lang="en">
                <a:solidFill>
                  <a:schemeClr val="dk1"/>
                </a:solidFill>
              </a:rPr>
              <a:t> is for the same user across: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Multiple captures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Different sessions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Device variations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Detects SDKs that are “accurate but noisy”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2. Intra-class Variance (Same User Variability)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Evaluate how much the score fluctuates for genuine matches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Lower variance = more reliable SDK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3. Threshold Sensitivity Analysis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Test how performance changes across thresholds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 sharply does FNMR increase?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Is there a stable operating band?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Helps in real-world threshold tuning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4. Template Aging / Time Robustness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Run same-match comparisons across: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Time gaps (days / months)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Different capture conditions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Measures long-term reliability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5. Cross-device Consistency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Same user matched across: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Different OEM cameras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Sensor quality variations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Critical for Aadhaar’s heterogeneous device ecosystem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6. Environmental Robustness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Same-match under: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Low light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Motion blur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Occlusion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Moves closer to real deployment conditions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7. Failure-to-Acquire vs Match Quality Correlation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Check: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Does SDK fail capture often but give high scores when it works?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Or consistent capture + moderate scores?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Helps identify usability vs accuracy tradeoffs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8. Score Calibration / Interpretability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Evaluate whether: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Score distributions are well separated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Scores are comparable across SDKs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👉 Important for ecosystem-level standardization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e223fa7f9e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9" name="Google Shape;949;g3e223fa7f9e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1" y="841774"/>
            <a:ext cx="6858007" cy="179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1" y="2701533"/>
            <a:ext cx="6858007" cy="1241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1" y="273845"/>
            <a:ext cx="7886707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1" y="1369221"/>
            <a:ext cx="7886707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6"/>
            <a:ext cx="7886707" cy="2139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104"/>
            <a:ext cx="7886707" cy="112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1" y="273845"/>
            <a:ext cx="7886707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1" y="1369221"/>
            <a:ext cx="3886203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5" y="1369221"/>
            <a:ext cx="3886203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2" y="273845"/>
            <a:ext cx="7886707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2" y="1260874"/>
            <a:ext cx="3868344" cy="61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2" y="1878810"/>
            <a:ext cx="3868344" cy="276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5" y="1260874"/>
            <a:ext cx="3887395" cy="61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5" y="1878810"/>
            <a:ext cx="3887395" cy="276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1" y="273845"/>
            <a:ext cx="7886707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2" y="342901"/>
            <a:ext cx="2949181" cy="12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5" y="740570"/>
            <a:ext cx="4629155" cy="3655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marL="914400" lvl="1" indent="-3492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2pPr>
            <a:lvl3pPr marL="1371600" lvl="2" indent="-3365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2" y="1543053"/>
            <a:ext cx="2949181" cy="28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2" y="342901"/>
            <a:ext cx="2949181" cy="12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5" y="740570"/>
            <a:ext cx="4629155" cy="3655226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2" y="1543053"/>
            <a:ext cx="2949181" cy="28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1" y="273845"/>
            <a:ext cx="7886707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9" y="-942378"/>
            <a:ext cx="3263510" cy="7886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6" y="1467449"/>
            <a:ext cx="4358887" cy="197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2" y="-447078"/>
            <a:ext cx="4358887" cy="580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2" name="Google Shape;212;p4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3" name="Google Shape;21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81185" y="156916"/>
            <a:ext cx="767711" cy="493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2"/>
          <p:cNvSpPr txBox="1">
            <a:spLocks noGrp="1"/>
          </p:cNvSpPr>
          <p:nvPr>
            <p:ph type="body" idx="1"/>
          </p:nvPr>
        </p:nvSpPr>
        <p:spPr>
          <a:xfrm>
            <a:off x="211643" y="194243"/>
            <a:ext cx="69711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42"/>
          <p:cNvSpPr txBox="1"/>
          <p:nvPr/>
        </p:nvSpPr>
        <p:spPr>
          <a:xfrm>
            <a:off x="226063" y="4877522"/>
            <a:ext cx="2949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fld id="{00000000-1234-1234-1234-123412341234}" type="slidenum">
              <a:rPr lang="en" sz="675" b="0" i="0" u="none" strike="noStrike" cap="none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825" b="0" i="0" u="none" strike="noStrike" cap="none">
              <a:solidFill>
                <a:srgbClr val="41404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34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5" name="Google Shape;225;p4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6" name="Google Shape;226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9" name="Google Shape;229;p4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0" name="Google Shape;230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3" name="Google Shape;233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7" name="Google Shape;237;p4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8" name="Google Shape;238;p4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9" name="Google Shape;23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42" name="Google Shape;242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5" name="Google Shape;245;p4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6" name="Google Shape;246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bg>
      <p:bgPr>
        <a:gradFill>
          <a:gsLst>
            <a:gs pos="0">
              <a:srgbClr val="FCE5CD"/>
            </a:gs>
            <a:gs pos="100000">
              <a:srgbClr val="D9EAD3"/>
            </a:gs>
          </a:gsLst>
          <a:lin ang="5400012" scaled="0"/>
        </a:gra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50" descr="A white and green background with red and orange line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975"/>
            <a:ext cx="9143998" cy="5137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1" name="Google Shape;25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8" name="Google Shape;258;p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9" name="Google Shape;259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81185" y="156916"/>
            <a:ext cx="767711" cy="493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4"/>
          <p:cNvSpPr txBox="1">
            <a:spLocks noGrp="1"/>
          </p:cNvSpPr>
          <p:nvPr>
            <p:ph type="body" idx="1"/>
          </p:nvPr>
        </p:nvSpPr>
        <p:spPr>
          <a:xfrm>
            <a:off x="211643" y="194243"/>
            <a:ext cx="6971110" cy="64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3" name="Google Shape;263;p54"/>
          <p:cNvSpPr txBox="1"/>
          <p:nvPr/>
        </p:nvSpPr>
        <p:spPr>
          <a:xfrm>
            <a:off x="226063" y="4877522"/>
            <a:ext cx="294797" cy="173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fld id="{00000000-1234-1234-1234-123412341234}" type="slidenum">
              <a:rPr lang="en" sz="675" b="0" i="0" u="none" strike="noStrike" cap="none">
                <a:solidFill>
                  <a:srgbClr val="414042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825" b="0" i="0" u="none" strike="noStrike" cap="none">
              <a:solidFill>
                <a:srgbClr val="41404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34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7" name="Google Shape;267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1" name="Google Shape;271;p5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2" name="Google Shape;272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5" name="Google Shape;275;p5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6" name="Google Shape;27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9" name="Google Shape;279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82" name="Google Shape;282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5" name="Google Shape;285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bg>
      <p:bgPr>
        <a:gradFill>
          <a:gsLst>
            <a:gs pos="0">
              <a:srgbClr val="FCE5CD"/>
            </a:gs>
            <a:gs pos="100000">
              <a:srgbClr val="D9EAD3"/>
            </a:gs>
          </a:gsLst>
          <a:lin ang="5400012" scaled="0"/>
        </a:gra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61" descr="A white and green background with red and orange lines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975"/>
            <a:ext cx="9143998" cy="5137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1" name="Google Shape;291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ctrTitle"/>
          </p:nvPr>
        </p:nvSpPr>
        <p:spPr>
          <a:xfrm>
            <a:off x="1143000" y="841774"/>
            <a:ext cx="6858000" cy="179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1"/>
          </p:nvPr>
        </p:nvSpPr>
        <p:spPr>
          <a:xfrm>
            <a:off x="1143000" y="2701533"/>
            <a:ext cx="6858000" cy="1241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2394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628650" y="1369221"/>
            <a:ext cx="7886700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72459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623888" y="1282306"/>
            <a:ext cx="7886700" cy="2139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body" idx="1"/>
          </p:nvPr>
        </p:nvSpPr>
        <p:spPr>
          <a:xfrm>
            <a:off x="623888" y="3442104"/>
            <a:ext cx="7886700" cy="1125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870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body" idx="1"/>
          </p:nvPr>
        </p:nvSpPr>
        <p:spPr>
          <a:xfrm>
            <a:off x="628650" y="1369221"/>
            <a:ext cx="3886200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2"/>
          </p:nvPr>
        </p:nvSpPr>
        <p:spPr>
          <a:xfrm>
            <a:off x="4629150" y="1369221"/>
            <a:ext cx="3886200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0811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629841" y="273845"/>
            <a:ext cx="7886700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629842" y="1260874"/>
            <a:ext cx="3868340" cy="61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2"/>
          </p:nvPr>
        </p:nvSpPr>
        <p:spPr>
          <a:xfrm>
            <a:off x="629842" y="1878810"/>
            <a:ext cx="3868340" cy="276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3"/>
          </p:nvPr>
        </p:nvSpPr>
        <p:spPr>
          <a:xfrm>
            <a:off x="4629150" y="1260874"/>
            <a:ext cx="3887391" cy="61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4"/>
          </p:nvPr>
        </p:nvSpPr>
        <p:spPr>
          <a:xfrm>
            <a:off x="4629150" y="1878810"/>
            <a:ext cx="3887391" cy="2763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22121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1077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2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36722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12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3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150" cy="3655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77" name="Google Shape;177;p33"/>
          <p:cNvSpPr txBox="1">
            <a:spLocks noGrp="1"/>
          </p:cNvSpPr>
          <p:nvPr>
            <p:ph type="body" idx="2"/>
          </p:nvPr>
        </p:nvSpPr>
        <p:spPr>
          <a:xfrm>
            <a:off x="629841" y="1543053"/>
            <a:ext cx="2949178" cy="28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58032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120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4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150" cy="3655226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>
            <a:spLocks noGrp="1"/>
          </p:cNvSpPr>
          <p:nvPr>
            <p:ph type="body" idx="1"/>
          </p:nvPr>
        </p:nvSpPr>
        <p:spPr>
          <a:xfrm>
            <a:off x="629841" y="1543053"/>
            <a:ext cx="2949178" cy="285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3968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body" idx="1"/>
          </p:nvPr>
        </p:nvSpPr>
        <p:spPr>
          <a:xfrm rot="5400000">
            <a:off x="2940245" y="-942374"/>
            <a:ext cx="326351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5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5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9698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>
            <a:spLocks noGrp="1"/>
          </p:cNvSpPr>
          <p:nvPr>
            <p:ph type="title"/>
          </p:nvPr>
        </p:nvSpPr>
        <p:spPr>
          <a:xfrm rot="5400000">
            <a:off x="5350069" y="1467450"/>
            <a:ext cx="4358887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body" idx="1"/>
          </p:nvPr>
        </p:nvSpPr>
        <p:spPr>
          <a:xfrm rot="5400000">
            <a:off x="1349569" y="-447075"/>
            <a:ext cx="4358887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p36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499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1" y="273845"/>
            <a:ext cx="7886707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  <a:defRPr sz="3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1" y="1369221"/>
            <a:ext cx="7886707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t" anchorCtr="0">
            <a:normAutofit/>
          </a:bodyPr>
          <a:lstStyle>
            <a:lvl1pPr marL="457200" marR="0" lvl="0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65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1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3" y="4767272"/>
            <a:ext cx="3086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6" y="4767272"/>
            <a:ext cx="205740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650" tIns="31825" rIns="63650" bIns="318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FCE5CD"/>
            </a:gs>
            <a:gs pos="100000">
              <a:srgbClr val="D9EAD3"/>
            </a:gs>
          </a:gsLst>
          <a:lin ang="5400012" scaled="0"/>
        </a:gra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FCE5CD"/>
            </a:gs>
            <a:gs pos="100000">
              <a:srgbClr val="D9EAD3"/>
            </a:gs>
          </a:gsLst>
          <a:lin ang="5400012" scaled="0"/>
        </a:gra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" name="Google Shape;254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5" name="Google Shape;255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628650" y="1369221"/>
            <a:ext cx="7886700" cy="326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11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6286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3028950" y="4767272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457950" y="476727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1136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.png"/><Relationship Id="rId4" Type="http://schemas.openxmlformats.org/officeDocument/2006/relationships/image" Target="../media/image50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6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6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4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3"/>
          <p:cNvSpPr txBox="1"/>
          <p:nvPr/>
        </p:nvSpPr>
        <p:spPr>
          <a:xfrm>
            <a:off x="3657900" y="1255000"/>
            <a:ext cx="4759500" cy="10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31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From Numbers to Verifiable Credenti</a:t>
            </a:r>
            <a:r>
              <a:rPr lang="en" sz="31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" sz="31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3"/>
          <p:cNvSpPr txBox="1"/>
          <p:nvPr/>
        </p:nvSpPr>
        <p:spPr>
          <a:xfrm>
            <a:off x="3657900" y="2269895"/>
            <a:ext cx="40446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400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Future of ID Tech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63" title="UDAI Welcom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300" y="725000"/>
            <a:ext cx="2210525" cy="36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63"/>
          <p:cNvSpPr txBox="1"/>
          <p:nvPr/>
        </p:nvSpPr>
        <p:spPr>
          <a:xfrm>
            <a:off x="4447800" y="3028226"/>
            <a:ext cx="4044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b="1" dirty="0" err="1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Tanusree</a:t>
            </a:r>
            <a:r>
              <a:rPr lang="en" sz="1200" b="1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Deb Barma</a:t>
            </a:r>
            <a:endParaRPr sz="1200" b="1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Deputy Director General </a:t>
            </a:r>
            <a:endParaRPr sz="1200" dirty="0">
              <a:solidFill>
                <a:srgbClr val="43434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200" dirty="0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UIDAI Technology Centre</a:t>
            </a:r>
            <a:endParaRPr sz="1200" dirty="0">
              <a:solidFill>
                <a:srgbClr val="43434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00" name="Google Shape;300;p63"/>
          <p:cNvSpPr txBox="1"/>
          <p:nvPr/>
        </p:nvSpPr>
        <p:spPr>
          <a:xfrm>
            <a:off x="3657900" y="3796595"/>
            <a:ext cx="40446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PanIIT Bangalore Summit 2026 | 16/05/2026</a:t>
            </a:r>
            <a:endParaRPr sz="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0250" y="3028225"/>
            <a:ext cx="602700" cy="602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9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64"/>
          <p:cNvSpPr txBox="1"/>
          <p:nvPr/>
        </p:nvSpPr>
        <p:spPr>
          <a:xfrm>
            <a:off x="228600" y="2662192"/>
            <a:ext cx="8687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800" b="1" i="1">
                <a:solidFill>
                  <a:schemeClr val="lt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India had a trust problem</a:t>
            </a:r>
            <a:endParaRPr sz="3800" b="1" i="1">
              <a:solidFill>
                <a:schemeClr val="lt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308" name="Google Shape;308;p64"/>
          <p:cNvSpPr txBox="1"/>
          <p:nvPr/>
        </p:nvSpPr>
        <p:spPr>
          <a:xfrm>
            <a:off x="208346" y="3347975"/>
            <a:ext cx="5482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Verifying who someone was slow, costly, and broken.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405" y="-1341101"/>
            <a:ext cx="35047563" cy="236111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65"/>
          <p:cNvSpPr/>
          <p:nvPr/>
        </p:nvSpPr>
        <p:spPr>
          <a:xfrm>
            <a:off x="3210719" y="856129"/>
            <a:ext cx="2722500" cy="40443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5"/>
          <p:cNvSpPr/>
          <p:nvPr/>
        </p:nvSpPr>
        <p:spPr>
          <a:xfrm>
            <a:off x="3363338" y="2293173"/>
            <a:ext cx="2569800" cy="26073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55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5"/>
          <p:cNvSpPr/>
          <p:nvPr/>
        </p:nvSpPr>
        <p:spPr>
          <a:xfrm>
            <a:off x="3363337" y="3081022"/>
            <a:ext cx="2569800" cy="1826700"/>
          </a:xfrm>
          <a:prstGeom prst="round2SameRect">
            <a:avLst>
              <a:gd name="adj1" fmla="val 13456"/>
              <a:gd name="adj2" fmla="val 9535"/>
            </a:avLst>
          </a:prstGeom>
          <a:gradFill>
            <a:gsLst>
              <a:gs pos="0">
                <a:srgbClr val="FFDDB2"/>
              </a:gs>
              <a:gs pos="87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5"/>
          <p:cNvSpPr/>
          <p:nvPr/>
        </p:nvSpPr>
        <p:spPr>
          <a:xfrm>
            <a:off x="3363338" y="3863364"/>
            <a:ext cx="2569800" cy="1037100"/>
          </a:xfrm>
          <a:prstGeom prst="round2SameRect">
            <a:avLst>
              <a:gd name="adj1" fmla="val 26207"/>
              <a:gd name="adj2" fmla="val 14696"/>
            </a:avLst>
          </a:prstGeom>
          <a:gradFill>
            <a:gsLst>
              <a:gs pos="0">
                <a:srgbClr val="FFDDB2"/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5"/>
          <p:cNvSpPr/>
          <p:nvPr/>
        </p:nvSpPr>
        <p:spPr>
          <a:xfrm>
            <a:off x="6182968" y="856129"/>
            <a:ext cx="2722500" cy="40443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5"/>
          <p:cNvSpPr/>
          <p:nvPr/>
        </p:nvSpPr>
        <p:spPr>
          <a:xfrm>
            <a:off x="228600" y="856129"/>
            <a:ext cx="2722500" cy="40443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5"/>
          <p:cNvSpPr txBox="1"/>
          <p:nvPr/>
        </p:nvSpPr>
        <p:spPr>
          <a:xfrm>
            <a:off x="338035" y="1048902"/>
            <a:ext cx="272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Effect</a:t>
            </a:r>
            <a:endParaRPr sz="1600" b="1" i="0" u="none" strike="noStrike" cap="none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1" name="Google Shape;321;p65"/>
          <p:cNvSpPr txBox="1"/>
          <p:nvPr/>
        </p:nvSpPr>
        <p:spPr>
          <a:xfrm>
            <a:off x="3199949" y="1048902"/>
            <a:ext cx="249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Era</a:t>
            </a:r>
            <a:endParaRPr sz="1600" b="1" i="0" u="none" strike="noStrike" cap="none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2" name="Google Shape;322;p65"/>
          <p:cNvSpPr txBox="1"/>
          <p:nvPr/>
        </p:nvSpPr>
        <p:spPr>
          <a:xfrm>
            <a:off x="6322674" y="1048902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 Frontier</a:t>
            </a:r>
            <a:endParaRPr sz="1600" b="1" i="0" u="none" strike="noStrike" cap="none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3" name="Google Shape;323;p65"/>
          <p:cNvSpPr txBox="1"/>
          <p:nvPr/>
        </p:nvSpPr>
        <p:spPr>
          <a:xfrm>
            <a:off x="324357" y="1391365"/>
            <a:ext cx="2722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Passwords and manual ID checks dominated verification across digital and physical spaces. Aadhaar bought it in digital identity verification in India</a:t>
            </a:r>
            <a:endParaRPr sz="14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4" name="Google Shape;324;p65"/>
          <p:cNvSpPr txBox="1"/>
          <p:nvPr/>
        </p:nvSpPr>
        <p:spPr>
          <a:xfrm>
            <a:off x="320348" y="2316793"/>
            <a:ext cx="249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solved for deduplication of identity in a database by allocating a unique ID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5" name="Google Shape;325;p65"/>
          <p:cNvSpPr txBox="1"/>
          <p:nvPr/>
        </p:nvSpPr>
        <p:spPr>
          <a:xfrm>
            <a:off x="318653" y="2933407"/>
            <a:ext cx="249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KYC costs of ~USD 6-9</a:t>
            </a:r>
            <a:r>
              <a:rPr lang="en" sz="1000" b="1" i="0" u="none" strike="noStrike" cap="none" baseline="30000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lang="en" sz="1000" b="1" i="0" u="none" strike="noStrike" cap="none" baseline="30000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was reduced to </a:t>
            </a: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0.03 USD   </a:t>
            </a:r>
            <a:endParaRPr sz="1000" b="1" i="0" u="none" strike="noStrike" cap="none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6" name="Google Shape;326;p65"/>
          <p:cNvSpPr txBox="1"/>
          <p:nvPr/>
        </p:nvSpPr>
        <p:spPr>
          <a:xfrm>
            <a:off x="318653" y="3445531"/>
            <a:ext cx="249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Created savings worth USD </a:t>
            </a:r>
            <a:r>
              <a:rPr lang="en" sz="10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45 </a:t>
            </a: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billion since 2013  </a:t>
            </a:r>
            <a:r>
              <a:rPr lang="en" sz="10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through Direct Benefit Transfers</a:t>
            </a:r>
            <a:endParaRPr sz="1000" b="0" i="0" u="none" strike="noStrike" cap="none" baseline="30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7" name="Google Shape;327;p65"/>
          <p:cNvSpPr txBox="1"/>
          <p:nvPr/>
        </p:nvSpPr>
        <p:spPr>
          <a:xfrm>
            <a:off x="318653" y="4088109"/>
            <a:ext cx="249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89%</a:t>
            </a:r>
            <a:r>
              <a:rPr lang="en" sz="1000" b="0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of adults have access to bank accounts  (35% in 2011)</a:t>
            </a:r>
            <a:endParaRPr sz="1000" b="0" i="0" u="none" strike="noStrike" cap="none" baseline="30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8" name="Google Shape;328;p65"/>
          <p:cNvSpPr txBox="1"/>
          <p:nvPr/>
        </p:nvSpPr>
        <p:spPr>
          <a:xfrm>
            <a:off x="3199950" y="1391365"/>
            <a:ext cx="27441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introduced biometric based 1:1 matching as the primary verification method for identity</a:t>
            </a:r>
            <a:endParaRPr sz="14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9" name="Google Shape;329;p65"/>
          <p:cNvSpPr txBox="1"/>
          <p:nvPr/>
        </p:nvSpPr>
        <p:spPr>
          <a:xfrm>
            <a:off x="6336354" y="1391365"/>
            <a:ext cx="27441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Focus now shifts to combating authentication frauds &amp; achieving 130 million verification per day </a:t>
            </a:r>
            <a:endParaRPr sz="14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0" name="Google Shape;330;p65"/>
          <p:cNvSpPr/>
          <p:nvPr/>
        </p:nvSpPr>
        <p:spPr>
          <a:xfrm>
            <a:off x="6297347" y="3212702"/>
            <a:ext cx="2490000" cy="39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F79433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Improve liveness models  </a:t>
            </a:r>
            <a:r>
              <a:rPr lang="en" sz="10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through continuous training</a:t>
            </a:r>
            <a:endParaRPr sz="1000" b="0" i="0" u="none" strike="noStrike" cap="none" baseline="30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1" name="Google Shape;331;p65"/>
          <p:cNvSpPr/>
          <p:nvPr/>
        </p:nvSpPr>
        <p:spPr>
          <a:xfrm>
            <a:off x="6297347" y="2293172"/>
            <a:ext cx="2490000" cy="885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Focus on encouraging the offline verification </a:t>
            </a:r>
            <a:r>
              <a:rPr lang="en" sz="10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(create usage of identity sharing through digital offline means as a user preference)</a:t>
            </a:r>
            <a:endParaRPr sz="10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2" name="Google Shape;332;p65"/>
          <p:cNvSpPr/>
          <p:nvPr/>
        </p:nvSpPr>
        <p:spPr>
          <a:xfrm>
            <a:off x="6297347" y="3646162"/>
            <a:ext cx="2490000" cy="478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Provide sandbox for open dataset testing  </a:t>
            </a:r>
            <a:r>
              <a:rPr lang="en" sz="10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help ecosystem to improve models</a:t>
            </a:r>
            <a:endParaRPr sz="1000" b="0" i="0" u="none" strike="noStrike" cap="none" baseline="30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3" name="Google Shape;333;p65"/>
          <p:cNvSpPr/>
          <p:nvPr/>
        </p:nvSpPr>
        <p:spPr>
          <a:xfrm>
            <a:off x="6297347" y="4158533"/>
            <a:ext cx="2490000" cy="478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Expand the use </a:t>
            </a:r>
            <a:r>
              <a:rPr lang="en" sz="10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low assurance use cases such as hotel check-ins, event management and police verification</a:t>
            </a:r>
            <a:endParaRPr sz="1000" b="0" i="0" u="none" strike="noStrike" cap="none" baseline="30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34" name="Google Shape;334;p65"/>
          <p:cNvSpPr txBox="1"/>
          <p:nvPr/>
        </p:nvSpPr>
        <p:spPr>
          <a:xfrm>
            <a:off x="3438653" y="2352563"/>
            <a:ext cx="1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1.43 </a:t>
            </a:r>
            <a:r>
              <a:rPr lang="en" sz="1600" b="1" i="0" u="none" strike="noStrike" cap="none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billion</a:t>
            </a:r>
            <a:endParaRPr sz="1600" b="1" i="0" u="none" strike="noStrike" cap="none"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335" name="Google Shape;335;p65"/>
          <p:cNvSpPr txBox="1"/>
          <p:nvPr/>
        </p:nvSpPr>
        <p:spPr>
          <a:xfrm>
            <a:off x="3438654" y="3138390"/>
            <a:ext cx="250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173.09 </a:t>
            </a:r>
            <a:r>
              <a:rPr lang="en" sz="1600" b="1" i="0" u="none" strike="noStrike" cap="none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billion</a:t>
            </a:r>
            <a:endParaRPr sz="1400" b="0" i="0" u="none" strike="noStrike" cap="none"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336" name="Google Shape;336;p65"/>
          <p:cNvSpPr txBox="1"/>
          <p:nvPr/>
        </p:nvSpPr>
        <p:spPr>
          <a:xfrm>
            <a:off x="3438653" y="3924217"/>
            <a:ext cx="1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23.71 </a:t>
            </a:r>
            <a:r>
              <a:rPr lang="en" sz="1600" b="1" i="0" u="none" strike="noStrike" cap="none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billion</a:t>
            </a:r>
            <a:endParaRPr sz="1400" b="0" i="0" u="none" strike="noStrike" cap="none"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337" name="Google Shape;337;p65"/>
          <p:cNvSpPr txBox="1"/>
          <p:nvPr/>
        </p:nvSpPr>
        <p:spPr>
          <a:xfrm>
            <a:off x="4035792" y="2796766"/>
            <a:ext cx="18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1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Generated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5"/>
          <p:cNvSpPr txBox="1"/>
          <p:nvPr/>
        </p:nvSpPr>
        <p:spPr>
          <a:xfrm>
            <a:off x="4035260" y="4340931"/>
            <a:ext cx="18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1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eKYC done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5"/>
          <p:cNvSpPr txBox="1"/>
          <p:nvPr/>
        </p:nvSpPr>
        <p:spPr>
          <a:xfrm>
            <a:off x="4035526" y="3568848"/>
            <a:ext cx="2021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1" u="none" strike="noStrike" cap="none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Authentications done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65"/>
          <p:cNvSpPr txBox="1"/>
          <p:nvPr/>
        </p:nvSpPr>
        <p:spPr>
          <a:xfrm>
            <a:off x="4949256" y="2317154"/>
            <a:ext cx="159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800" b="1" i="1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*As of April 2026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5"/>
          <p:cNvSpPr txBox="1"/>
          <p:nvPr/>
        </p:nvSpPr>
        <p:spPr>
          <a:xfrm>
            <a:off x="307007" y="150193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was the answer.</a:t>
            </a:r>
            <a:endParaRPr sz="2000" b="0" i="0" u="none" strike="noStrike" cap="none">
              <a:solidFill>
                <a:schemeClr val="dk2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343" name="Google Shape;343;p65"/>
          <p:cNvSpPr txBox="1"/>
          <p:nvPr/>
        </p:nvSpPr>
        <p:spPr>
          <a:xfrm>
            <a:off x="307007" y="507705"/>
            <a:ext cx="868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rPr>
              <a:t>Biometric identity, at billion-person scale, built on privacy by design.</a:t>
            </a:r>
            <a:endParaRPr>
              <a:solidFill>
                <a:schemeClr val="dk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6"/>
          <p:cNvSpPr/>
          <p:nvPr/>
        </p:nvSpPr>
        <p:spPr>
          <a:xfrm>
            <a:off x="0" y="5058175"/>
            <a:ext cx="9144000" cy="85200"/>
          </a:xfrm>
          <a:prstGeom prst="rect">
            <a:avLst/>
          </a:prstGeom>
          <a:solidFill>
            <a:srgbClr val="0923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66"/>
          <p:cNvPicPr preferRelativeResize="0"/>
          <p:nvPr/>
        </p:nvPicPr>
        <p:blipFill rotWithShape="1">
          <a:blip r:embed="rId3">
            <a:alphaModFix/>
          </a:blip>
          <a:srcRect r="73547"/>
          <a:stretch/>
        </p:blipFill>
        <p:spPr>
          <a:xfrm>
            <a:off x="0" y="-627700"/>
            <a:ext cx="9271402" cy="2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66"/>
          <p:cNvSpPr txBox="1"/>
          <p:nvPr/>
        </p:nvSpPr>
        <p:spPr>
          <a:xfrm>
            <a:off x="307500" y="494450"/>
            <a:ext cx="7477200" cy="11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3200" b="1">
                <a:solidFill>
                  <a:srgbClr val="073459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Big numbers, </a:t>
            </a:r>
            <a:endParaRPr sz="3200" b="1">
              <a:solidFill>
                <a:srgbClr val="073459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3200" b="1">
                <a:solidFill>
                  <a:srgbClr val="073459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but something was still missing.</a:t>
            </a:r>
            <a:endParaRPr sz="3200" b="1">
              <a:solidFill>
                <a:srgbClr val="073459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pic>
        <p:nvPicPr>
          <p:cNvPr id="351" name="Google Shape;351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66"/>
          <p:cNvSpPr/>
          <p:nvPr/>
        </p:nvSpPr>
        <p:spPr>
          <a:xfrm rot="10800000">
            <a:off x="313075" y="2026600"/>
            <a:ext cx="1916700" cy="1730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6"/>
          <p:cNvSpPr txBox="1"/>
          <p:nvPr/>
        </p:nvSpPr>
        <p:spPr>
          <a:xfrm>
            <a:off x="406900" y="2130125"/>
            <a:ext cx="17526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Physical ID cards continue to be widely used and are vulnerable to spoofing during human eye based verification</a:t>
            </a:r>
            <a:endParaRPr sz="1300" b="1">
              <a:solidFill>
                <a:srgbClr val="EF8600"/>
              </a:solidFill>
            </a:endParaRPr>
          </a:p>
        </p:txBody>
      </p:sp>
      <p:sp>
        <p:nvSpPr>
          <p:cNvPr id="354" name="Google Shape;354;p66"/>
          <p:cNvSpPr/>
          <p:nvPr/>
        </p:nvSpPr>
        <p:spPr>
          <a:xfrm rot="10800000">
            <a:off x="2465300" y="2026600"/>
            <a:ext cx="1916700" cy="1730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6"/>
          <p:cNvSpPr txBox="1"/>
          <p:nvPr/>
        </p:nvSpPr>
        <p:spPr>
          <a:xfrm>
            <a:off x="2559125" y="2130125"/>
            <a:ext cx="17526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Users lose control over their Aadhaar data once it is shared with businesses</a:t>
            </a:r>
            <a:endParaRPr sz="13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56" name="Google Shape;356;p66"/>
          <p:cNvSpPr/>
          <p:nvPr/>
        </p:nvSpPr>
        <p:spPr>
          <a:xfrm rot="10800000">
            <a:off x="4687800" y="2026600"/>
            <a:ext cx="1916700" cy="1730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6"/>
          <p:cNvSpPr txBox="1"/>
          <p:nvPr/>
        </p:nvSpPr>
        <p:spPr>
          <a:xfrm>
            <a:off x="4781625" y="2130125"/>
            <a:ext cx="1752600" cy="15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API integration for businesses became burdened with extensive compliance requirements</a:t>
            </a:r>
            <a:endParaRPr sz="11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58" name="Google Shape;358;p66"/>
          <p:cNvSpPr/>
          <p:nvPr/>
        </p:nvSpPr>
        <p:spPr>
          <a:xfrm rot="10800000">
            <a:off x="6910300" y="2026600"/>
            <a:ext cx="1916700" cy="1730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6"/>
          <p:cNvSpPr txBox="1"/>
          <p:nvPr/>
        </p:nvSpPr>
        <p:spPr>
          <a:xfrm>
            <a:off x="7004125" y="2130125"/>
            <a:ext cx="17526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2018 Supreme Court verdict restricted Aadhaar usage in private sector use cases, limiting adoption to regulated sectors such as banking, insurance, and telecom</a:t>
            </a:r>
            <a:endParaRPr sz="13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9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67"/>
          <p:cNvSpPr txBox="1"/>
          <p:nvPr/>
        </p:nvSpPr>
        <p:spPr>
          <a:xfrm>
            <a:off x="228600" y="2662192"/>
            <a:ext cx="8687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800" b="1" i="1">
                <a:solidFill>
                  <a:schemeClr val="lt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Our solution to this…</a:t>
            </a:r>
            <a:endParaRPr sz="3800" b="1" i="1">
              <a:solidFill>
                <a:schemeClr val="lt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366" name="Google Shape;366;p67"/>
          <p:cNvSpPr txBox="1"/>
          <p:nvPr/>
        </p:nvSpPr>
        <p:spPr>
          <a:xfrm>
            <a:off x="208346" y="3347975"/>
            <a:ext cx="5482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9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68" title="Group 1948757838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3278532">
            <a:off x="-2182827" y="682475"/>
            <a:ext cx="10728200" cy="70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68"/>
          <p:cNvSpPr/>
          <p:nvPr/>
        </p:nvSpPr>
        <p:spPr>
          <a:xfrm>
            <a:off x="4987525" y="2924725"/>
            <a:ext cx="594000" cy="276900"/>
          </a:xfrm>
          <a:prstGeom prst="rect">
            <a:avLst/>
          </a:prstGeom>
          <a:solidFill>
            <a:srgbClr val="233A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68"/>
          <p:cNvSpPr txBox="1"/>
          <p:nvPr/>
        </p:nvSpPr>
        <p:spPr>
          <a:xfrm>
            <a:off x="4987525" y="2924725"/>
            <a:ext cx="626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</a:t>
            </a:r>
            <a:endParaRPr b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68" title="New Mock 1 (1)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519275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68"/>
          <p:cNvSpPr/>
          <p:nvPr/>
        </p:nvSpPr>
        <p:spPr>
          <a:xfrm>
            <a:off x="6410175" y="2924725"/>
            <a:ext cx="638100" cy="276900"/>
          </a:xfrm>
          <a:prstGeom prst="rect">
            <a:avLst/>
          </a:prstGeom>
          <a:solidFill>
            <a:srgbClr val="233A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68"/>
          <p:cNvSpPr txBox="1"/>
          <p:nvPr/>
        </p:nvSpPr>
        <p:spPr>
          <a:xfrm>
            <a:off x="6430096" y="2924725"/>
            <a:ext cx="6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Verify</a:t>
            </a:r>
            <a:endParaRPr b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8"/>
          <p:cNvSpPr/>
          <p:nvPr/>
        </p:nvSpPr>
        <p:spPr>
          <a:xfrm>
            <a:off x="5660900" y="2924725"/>
            <a:ext cx="638100" cy="276900"/>
          </a:xfrm>
          <a:prstGeom prst="rect">
            <a:avLst/>
          </a:prstGeom>
          <a:solidFill>
            <a:srgbClr val="233A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8"/>
          <p:cNvSpPr txBox="1"/>
          <p:nvPr/>
        </p:nvSpPr>
        <p:spPr>
          <a:xfrm>
            <a:off x="5686818" y="2924725"/>
            <a:ext cx="638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Share</a:t>
            </a:r>
            <a:endParaRPr b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8"/>
          <p:cNvSpPr txBox="1"/>
          <p:nvPr/>
        </p:nvSpPr>
        <p:spPr>
          <a:xfrm>
            <a:off x="4876278" y="189465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lt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App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1" name="Google Shape;381;p68"/>
          <p:cNvSpPr txBox="1"/>
          <p:nvPr/>
        </p:nvSpPr>
        <p:spPr>
          <a:xfrm>
            <a:off x="4918150" y="2520100"/>
            <a:ext cx="3636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Re-imagined Digital Identity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8136" y="1599925"/>
            <a:ext cx="1392815" cy="301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20142" y="1599928"/>
            <a:ext cx="1389521" cy="301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95899" y="1599928"/>
            <a:ext cx="1382984" cy="301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61826" y="1599928"/>
            <a:ext cx="1392815" cy="301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6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31044" y="1599928"/>
            <a:ext cx="1389521" cy="3014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6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6883" y="1599925"/>
            <a:ext cx="1392900" cy="3014400"/>
          </a:xfrm>
          <a:prstGeom prst="roundRect">
            <a:avLst>
              <a:gd name="adj" fmla="val 3961"/>
            </a:avLst>
          </a:prstGeom>
          <a:noFill/>
          <a:ln w="9200" cap="flat" cmpd="sng">
            <a:solidFill>
              <a:srgbClr val="FFD1A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6" name="Google Shape;386;p69"/>
          <p:cNvSpPr/>
          <p:nvPr/>
        </p:nvSpPr>
        <p:spPr>
          <a:xfrm>
            <a:off x="0" y="5058175"/>
            <a:ext cx="9144000" cy="85200"/>
          </a:xfrm>
          <a:prstGeom prst="rect">
            <a:avLst/>
          </a:prstGeom>
          <a:solidFill>
            <a:srgbClr val="0923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69"/>
          <p:cNvPicPr preferRelativeResize="0"/>
          <p:nvPr/>
        </p:nvPicPr>
        <p:blipFill rotWithShape="1">
          <a:blip r:embed="rId9">
            <a:alphaModFix/>
          </a:blip>
          <a:srcRect r="73547"/>
          <a:stretch/>
        </p:blipFill>
        <p:spPr>
          <a:xfrm>
            <a:off x="0" y="-627700"/>
            <a:ext cx="9271402" cy="2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9"/>
          <p:cNvSpPr txBox="1"/>
          <p:nvPr/>
        </p:nvSpPr>
        <p:spPr>
          <a:xfrm>
            <a:off x="307500" y="494450"/>
            <a:ext cx="58632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" sz="3200" b="1" i="0" u="none" strike="noStrike" kern="0" cap="none" spc="0" normalizeH="0" baseline="0" noProof="0">
                <a:ln>
                  <a:noFill/>
                </a:ln>
                <a:solidFill>
                  <a:srgbClr val="073459"/>
                </a:solidFill>
                <a:effectLst/>
                <a:uLnTx/>
                <a:uFillTx/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App is</a:t>
            </a:r>
            <a:r>
              <a:rPr kumimoji="0" lang="en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kumimoji="0" lang="en" sz="3200" b="1" i="0" u="none" strike="noStrike" kern="0" cap="none" spc="0" normalizeH="0" baseline="0" noProof="0">
                <a:ln>
                  <a:noFill/>
                </a:ln>
                <a:solidFill>
                  <a:srgbClr val="F79433"/>
                </a:solidFill>
                <a:effectLst/>
                <a:uLnTx/>
                <a:uFillTx/>
                <a:latin typeface="Noto Serif Devanagari"/>
                <a:ea typeface="Noto Serif Devanagari"/>
                <a:cs typeface="Noto Serif Devanagari"/>
                <a:sym typeface="Noto Serif Devanagari"/>
              </a:rPr>
              <a:t>Functional</a:t>
            </a:r>
            <a:endParaRPr kumimoji="0" sz="3200" b="1" i="0" u="none" strike="noStrike" kern="0" cap="none" spc="0" normalizeH="0" baseline="0" noProof="0">
              <a:ln>
                <a:noFill/>
              </a:ln>
              <a:solidFill>
                <a:srgbClr val="F79433"/>
              </a:solidFill>
              <a:effectLst/>
              <a:uLnTx/>
              <a:uFillTx/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pic>
        <p:nvPicPr>
          <p:cNvPr id="395" name="Google Shape;395;p6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4;p70">
            <a:extLst>
              <a:ext uri="{FF2B5EF4-FFF2-40B4-BE49-F238E27FC236}">
                <a16:creationId xmlns:a16="http://schemas.microsoft.com/office/drawing/2014/main" id="{B341083F-86BB-E035-6442-93A87CD29F06}"/>
              </a:ext>
            </a:extLst>
          </p:cNvPr>
          <p:cNvSpPr/>
          <p:nvPr/>
        </p:nvSpPr>
        <p:spPr>
          <a:xfrm>
            <a:off x="-32310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5;p70">
            <a:extLst>
              <a:ext uri="{FF2B5EF4-FFF2-40B4-BE49-F238E27FC236}">
                <a16:creationId xmlns:a16="http://schemas.microsoft.com/office/drawing/2014/main" id="{779A8200-ADB0-0810-B9E5-33C50FBCCA81}"/>
              </a:ext>
            </a:extLst>
          </p:cNvPr>
          <p:cNvSpPr/>
          <p:nvPr/>
        </p:nvSpPr>
        <p:spPr>
          <a:xfrm>
            <a:off x="-32310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07;p70">
            <a:extLst>
              <a:ext uri="{FF2B5EF4-FFF2-40B4-BE49-F238E27FC236}">
                <a16:creationId xmlns:a16="http://schemas.microsoft.com/office/drawing/2014/main" id="{117C641A-0C78-F4F7-43EB-3617CB950D1F}"/>
              </a:ext>
            </a:extLst>
          </p:cNvPr>
          <p:cNvSpPr txBox="1"/>
          <p:nvPr/>
        </p:nvSpPr>
        <p:spPr>
          <a:xfrm rot="-5400000">
            <a:off x="-909092" y="256805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Functional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B6859948-EA69-FA75-ADE8-101B6977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9">
            <a:extLst>
              <a:ext uri="{FF2B5EF4-FFF2-40B4-BE49-F238E27FC236}">
                <a16:creationId xmlns:a16="http://schemas.microsoft.com/office/drawing/2014/main" id="{38C5A02E-5778-FD16-B899-58A9BD0EE95E}"/>
              </a:ext>
            </a:extLst>
          </p:cNvPr>
          <p:cNvSpPr/>
          <p:nvPr/>
        </p:nvSpPr>
        <p:spPr>
          <a:xfrm>
            <a:off x="0" y="5058175"/>
            <a:ext cx="9144000" cy="85200"/>
          </a:xfrm>
          <a:prstGeom prst="rect">
            <a:avLst/>
          </a:prstGeom>
          <a:solidFill>
            <a:srgbClr val="0923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69">
            <a:extLst>
              <a:ext uri="{FF2B5EF4-FFF2-40B4-BE49-F238E27FC236}">
                <a16:creationId xmlns:a16="http://schemas.microsoft.com/office/drawing/2014/main" id="{46494CDB-8E7A-2A6C-527E-B9BB27ED29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3547"/>
          <a:stretch/>
        </p:blipFill>
        <p:spPr>
          <a:xfrm>
            <a:off x="0" y="2507387"/>
            <a:ext cx="9271402" cy="2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9">
            <a:extLst>
              <a:ext uri="{FF2B5EF4-FFF2-40B4-BE49-F238E27FC236}">
                <a16:creationId xmlns:a16="http://schemas.microsoft.com/office/drawing/2014/main" id="{D551971B-55A9-4DFE-DE7D-D104400E92EE}"/>
              </a:ext>
            </a:extLst>
          </p:cNvPr>
          <p:cNvSpPr txBox="1"/>
          <p:nvPr/>
        </p:nvSpPr>
        <p:spPr>
          <a:xfrm>
            <a:off x="307500" y="246093"/>
            <a:ext cx="7797922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IN" sz="3200" b="1" dirty="0">
                <a:solidFill>
                  <a:srgbClr val="073459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Y</a:t>
            </a:r>
            <a:r>
              <a:rPr lang="en" sz="3200" b="1" dirty="0">
                <a:solidFill>
                  <a:srgbClr val="073459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atra ID through</a:t>
            </a:r>
            <a:r>
              <a:rPr kumimoji="0" lang="e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kumimoji="0" lang="en" sz="3200" b="1" i="0" u="none" strike="noStrike" kern="0" cap="none" spc="0" normalizeH="0" baseline="0" noProof="0" dirty="0">
                <a:ln>
                  <a:noFill/>
                </a:ln>
                <a:solidFill>
                  <a:srgbClr val="F79433"/>
                </a:solidFill>
                <a:effectLst/>
                <a:uLnTx/>
                <a:uFillTx/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VC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79433"/>
              </a:solidFill>
              <a:effectLst/>
              <a:uLnTx/>
              <a:uFillTx/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pic>
        <p:nvPicPr>
          <p:cNvPr id="395" name="Google Shape;395;p69">
            <a:extLst>
              <a:ext uri="{FF2B5EF4-FFF2-40B4-BE49-F238E27FC236}">
                <a16:creationId xmlns:a16="http://schemas.microsoft.com/office/drawing/2014/main" id="{037673E5-EA46-45A9-3B52-F0816487613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4;p70">
            <a:extLst>
              <a:ext uri="{FF2B5EF4-FFF2-40B4-BE49-F238E27FC236}">
                <a16:creationId xmlns:a16="http://schemas.microsoft.com/office/drawing/2014/main" id="{DD7FE8FE-60B2-5912-99A6-4AD50026FE79}"/>
              </a:ext>
            </a:extLst>
          </p:cNvPr>
          <p:cNvSpPr/>
          <p:nvPr/>
        </p:nvSpPr>
        <p:spPr>
          <a:xfrm>
            <a:off x="15569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5;p70">
            <a:extLst>
              <a:ext uri="{FF2B5EF4-FFF2-40B4-BE49-F238E27FC236}">
                <a16:creationId xmlns:a16="http://schemas.microsoft.com/office/drawing/2014/main" id="{E69928FD-DD87-D27E-029E-B87F63E62DD6}"/>
              </a:ext>
            </a:extLst>
          </p:cNvPr>
          <p:cNvSpPr/>
          <p:nvPr/>
        </p:nvSpPr>
        <p:spPr>
          <a:xfrm>
            <a:off x="15569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07;p70">
            <a:extLst>
              <a:ext uri="{FF2B5EF4-FFF2-40B4-BE49-F238E27FC236}">
                <a16:creationId xmlns:a16="http://schemas.microsoft.com/office/drawing/2014/main" id="{F264944A-E12C-36B8-DE82-73400F32A4A9}"/>
              </a:ext>
            </a:extLst>
          </p:cNvPr>
          <p:cNvSpPr txBox="1"/>
          <p:nvPr/>
        </p:nvSpPr>
        <p:spPr>
          <a:xfrm rot="-5400000">
            <a:off x="-593000" y="256898"/>
            <a:ext cx="1438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" sz="800" b="1" dirty="0">
                <a:solidFill>
                  <a:srgbClr val="FFFFFF"/>
                </a:solidFill>
                <a:latin typeface="Instrument Sans"/>
                <a:cs typeface="Instrument Sans"/>
                <a:sym typeface="Instrument Sans"/>
              </a:rPr>
              <a:t>Aadhaar App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" name="Google Shape;638;p61">
            <a:extLst>
              <a:ext uri="{FF2B5EF4-FFF2-40B4-BE49-F238E27FC236}">
                <a16:creationId xmlns:a16="http://schemas.microsoft.com/office/drawing/2014/main" id="{3108AA64-3C36-8E19-E427-3BC7090BBB39}"/>
              </a:ext>
            </a:extLst>
          </p:cNvPr>
          <p:cNvSpPr/>
          <p:nvPr/>
        </p:nvSpPr>
        <p:spPr>
          <a:xfrm>
            <a:off x="196358" y="1063669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1. Make an Intent call from Incredible Yatra App to Aadhaar App</a:t>
            </a:r>
            <a:endParaRPr sz="12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639;p61">
            <a:extLst>
              <a:ext uri="{FF2B5EF4-FFF2-40B4-BE49-F238E27FC236}">
                <a16:creationId xmlns:a16="http://schemas.microsoft.com/office/drawing/2014/main" id="{878DFE98-D57A-FA1D-7425-C09096E1C3A9}"/>
              </a:ext>
            </a:extLst>
          </p:cNvPr>
          <p:cNvSpPr/>
          <p:nvPr/>
        </p:nvSpPr>
        <p:spPr>
          <a:xfrm>
            <a:off x="2588614" y="1063669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2. Redirects to Aadhaar App for identity verification </a:t>
            </a:r>
            <a:endParaRPr sz="12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Google Shape;640;p61">
            <a:extLst>
              <a:ext uri="{FF2B5EF4-FFF2-40B4-BE49-F238E27FC236}">
                <a16:creationId xmlns:a16="http://schemas.microsoft.com/office/drawing/2014/main" id="{701CD37B-247C-0E8A-2C8E-FBDF0D284712}"/>
              </a:ext>
            </a:extLst>
          </p:cNvPr>
          <p:cNvSpPr/>
          <p:nvPr/>
        </p:nvSpPr>
        <p:spPr>
          <a:xfrm>
            <a:off x="4942169" y="1063669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3. User Approves the request from Incredible Yatra App</a:t>
            </a:r>
            <a:r>
              <a:rPr lang="en" sz="16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" name="Google Shape;644;p61">
            <a:extLst>
              <a:ext uri="{FF2B5EF4-FFF2-40B4-BE49-F238E27FC236}">
                <a16:creationId xmlns:a16="http://schemas.microsoft.com/office/drawing/2014/main" id="{13D19F72-73BC-AD5F-C6C4-876F06212DB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996358" y="1423669"/>
            <a:ext cx="592256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645;p61">
            <a:extLst>
              <a:ext uri="{FF2B5EF4-FFF2-40B4-BE49-F238E27FC236}">
                <a16:creationId xmlns:a16="http://schemas.microsoft.com/office/drawing/2014/main" id="{78343FC5-07FA-1F01-576A-B8EBB0BFFCA5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4388614" y="1423669"/>
            <a:ext cx="553555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640;p61">
            <a:extLst>
              <a:ext uri="{FF2B5EF4-FFF2-40B4-BE49-F238E27FC236}">
                <a16:creationId xmlns:a16="http://schemas.microsoft.com/office/drawing/2014/main" id="{125EA31D-DCBB-C8D4-87F4-83E77606498F}"/>
              </a:ext>
            </a:extLst>
          </p:cNvPr>
          <p:cNvSpPr/>
          <p:nvPr/>
        </p:nvSpPr>
        <p:spPr>
          <a:xfrm>
            <a:off x="7292677" y="1046734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4. User is redirected to Incredible Yatra App</a:t>
            </a:r>
            <a:endParaRPr sz="12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" name="Google Shape;645;p61">
            <a:extLst>
              <a:ext uri="{FF2B5EF4-FFF2-40B4-BE49-F238E27FC236}">
                <a16:creationId xmlns:a16="http://schemas.microsoft.com/office/drawing/2014/main" id="{5BF6768E-A913-018D-F2A0-68515A3EFF37}"/>
              </a:ext>
            </a:extLst>
          </p:cNvPr>
          <p:cNvCxnSpPr>
            <a:cxnSpLocks/>
          </p:cNvCxnSpPr>
          <p:nvPr/>
        </p:nvCxnSpPr>
        <p:spPr>
          <a:xfrm>
            <a:off x="6753636" y="1418647"/>
            <a:ext cx="54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E0E03C2-7542-14D8-A4C6-DB2A49712D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66" y="1919194"/>
            <a:ext cx="1752629" cy="28765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99E5FC-CC17-20E2-6474-AFA5F47E5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9871" y="1872320"/>
            <a:ext cx="1245259" cy="30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C50FE9-433E-B997-E6C3-4ADB04B673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6372" y="1901347"/>
            <a:ext cx="1413981" cy="306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8A9284C-960F-41CD-70D7-6EA1B4DF69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7874" y="1890166"/>
            <a:ext cx="1848404" cy="29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6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467F9C8B-9306-8C4A-700E-49374980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9">
            <a:extLst>
              <a:ext uri="{FF2B5EF4-FFF2-40B4-BE49-F238E27FC236}">
                <a16:creationId xmlns:a16="http://schemas.microsoft.com/office/drawing/2014/main" id="{A6758FB8-5DDE-2A03-0421-FA20B43F549C}"/>
              </a:ext>
            </a:extLst>
          </p:cNvPr>
          <p:cNvSpPr/>
          <p:nvPr/>
        </p:nvSpPr>
        <p:spPr>
          <a:xfrm>
            <a:off x="0" y="5058175"/>
            <a:ext cx="9144000" cy="85200"/>
          </a:xfrm>
          <a:prstGeom prst="rect">
            <a:avLst/>
          </a:prstGeom>
          <a:solidFill>
            <a:srgbClr val="0923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69">
            <a:extLst>
              <a:ext uri="{FF2B5EF4-FFF2-40B4-BE49-F238E27FC236}">
                <a16:creationId xmlns:a16="http://schemas.microsoft.com/office/drawing/2014/main" id="{468DA227-A018-EE13-0814-EF963D9BA5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3547"/>
          <a:stretch/>
        </p:blipFill>
        <p:spPr>
          <a:xfrm>
            <a:off x="0" y="2507387"/>
            <a:ext cx="9271402" cy="2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9">
            <a:extLst>
              <a:ext uri="{FF2B5EF4-FFF2-40B4-BE49-F238E27FC236}">
                <a16:creationId xmlns:a16="http://schemas.microsoft.com/office/drawing/2014/main" id="{EDBFF398-5E72-4D08-AB51-DE513DA4BFF7}"/>
              </a:ext>
            </a:extLst>
          </p:cNvPr>
          <p:cNvSpPr txBox="1"/>
          <p:nvPr/>
        </p:nvSpPr>
        <p:spPr>
          <a:xfrm>
            <a:off x="307500" y="246093"/>
            <a:ext cx="7797922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IN" sz="3200" b="1" dirty="0">
                <a:solidFill>
                  <a:srgbClr val="073459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Y</a:t>
            </a:r>
            <a:r>
              <a:rPr lang="en" sz="3200" b="1" dirty="0">
                <a:solidFill>
                  <a:srgbClr val="073459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atra ID through</a:t>
            </a:r>
            <a:r>
              <a:rPr kumimoji="0" lang="e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kumimoji="0" lang="en" sz="3200" b="1" i="0" u="none" strike="noStrike" kern="0" cap="none" spc="0" normalizeH="0" baseline="0" noProof="0" dirty="0">
                <a:ln>
                  <a:noFill/>
                </a:ln>
                <a:solidFill>
                  <a:srgbClr val="F79433"/>
                </a:solidFill>
                <a:effectLst/>
                <a:uLnTx/>
                <a:uFillTx/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VC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79433"/>
              </a:solidFill>
              <a:effectLst/>
              <a:uLnTx/>
              <a:uFillTx/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pic>
        <p:nvPicPr>
          <p:cNvPr id="395" name="Google Shape;395;p69">
            <a:extLst>
              <a:ext uri="{FF2B5EF4-FFF2-40B4-BE49-F238E27FC236}">
                <a16:creationId xmlns:a16="http://schemas.microsoft.com/office/drawing/2014/main" id="{2D29483C-A0F5-9323-B031-FF781B32D5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4;p70">
            <a:extLst>
              <a:ext uri="{FF2B5EF4-FFF2-40B4-BE49-F238E27FC236}">
                <a16:creationId xmlns:a16="http://schemas.microsoft.com/office/drawing/2014/main" id="{4D53648E-7438-0BA2-2F45-E26DA25BB73D}"/>
              </a:ext>
            </a:extLst>
          </p:cNvPr>
          <p:cNvSpPr/>
          <p:nvPr/>
        </p:nvSpPr>
        <p:spPr>
          <a:xfrm>
            <a:off x="15569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5;p70">
            <a:extLst>
              <a:ext uri="{FF2B5EF4-FFF2-40B4-BE49-F238E27FC236}">
                <a16:creationId xmlns:a16="http://schemas.microsoft.com/office/drawing/2014/main" id="{4FEE2479-FEEE-4A51-0925-BDE18FC2855C}"/>
              </a:ext>
            </a:extLst>
          </p:cNvPr>
          <p:cNvSpPr/>
          <p:nvPr/>
        </p:nvSpPr>
        <p:spPr>
          <a:xfrm>
            <a:off x="15569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07;p70">
            <a:extLst>
              <a:ext uri="{FF2B5EF4-FFF2-40B4-BE49-F238E27FC236}">
                <a16:creationId xmlns:a16="http://schemas.microsoft.com/office/drawing/2014/main" id="{A571235F-6DFA-30F1-004E-D1B490483F4F}"/>
              </a:ext>
            </a:extLst>
          </p:cNvPr>
          <p:cNvSpPr txBox="1"/>
          <p:nvPr/>
        </p:nvSpPr>
        <p:spPr>
          <a:xfrm rot="-5400000">
            <a:off x="-593000" y="256898"/>
            <a:ext cx="14382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" sz="800" b="1" dirty="0">
                <a:solidFill>
                  <a:srgbClr val="FFFFFF"/>
                </a:solidFill>
                <a:latin typeface="Instrument Sans"/>
                <a:cs typeface="Instrument Sans"/>
                <a:sym typeface="Instrument Sans"/>
              </a:rPr>
              <a:t>Aadhaar App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" name="Google Shape;638;p61">
            <a:extLst>
              <a:ext uri="{FF2B5EF4-FFF2-40B4-BE49-F238E27FC236}">
                <a16:creationId xmlns:a16="http://schemas.microsoft.com/office/drawing/2014/main" id="{578A30BE-B2B5-B6A3-D6B1-8484ADBD601C}"/>
              </a:ext>
            </a:extLst>
          </p:cNvPr>
          <p:cNvSpPr/>
          <p:nvPr/>
        </p:nvSpPr>
        <p:spPr>
          <a:xfrm>
            <a:off x="196358" y="1063669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1. Make an Intent call from Incredible Yatra App to Aadhaar App</a:t>
            </a:r>
            <a:endParaRPr sz="12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Google Shape;639;p61">
            <a:extLst>
              <a:ext uri="{FF2B5EF4-FFF2-40B4-BE49-F238E27FC236}">
                <a16:creationId xmlns:a16="http://schemas.microsoft.com/office/drawing/2014/main" id="{FA8B6B7B-9280-B6A0-F2AD-EBA7AFBFC080}"/>
              </a:ext>
            </a:extLst>
          </p:cNvPr>
          <p:cNvSpPr/>
          <p:nvPr/>
        </p:nvSpPr>
        <p:spPr>
          <a:xfrm>
            <a:off x="2588614" y="1063669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2. Redirects to Aadhaar App for identity verification </a:t>
            </a:r>
            <a:endParaRPr sz="12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Google Shape;640;p61">
            <a:extLst>
              <a:ext uri="{FF2B5EF4-FFF2-40B4-BE49-F238E27FC236}">
                <a16:creationId xmlns:a16="http://schemas.microsoft.com/office/drawing/2014/main" id="{25CCC503-4659-639B-787A-2177F736E927}"/>
              </a:ext>
            </a:extLst>
          </p:cNvPr>
          <p:cNvSpPr/>
          <p:nvPr/>
        </p:nvSpPr>
        <p:spPr>
          <a:xfrm>
            <a:off x="4942169" y="1063669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3. User Approves the request from Incredible Yatra App</a:t>
            </a:r>
            <a:r>
              <a:rPr lang="en" sz="16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" name="Google Shape;644;p61">
            <a:extLst>
              <a:ext uri="{FF2B5EF4-FFF2-40B4-BE49-F238E27FC236}">
                <a16:creationId xmlns:a16="http://schemas.microsoft.com/office/drawing/2014/main" id="{D3DED381-8AC1-6C0F-F6C5-C3E423CEC139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996358" y="1423669"/>
            <a:ext cx="592256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645;p61">
            <a:extLst>
              <a:ext uri="{FF2B5EF4-FFF2-40B4-BE49-F238E27FC236}">
                <a16:creationId xmlns:a16="http://schemas.microsoft.com/office/drawing/2014/main" id="{C7A9E64C-63E4-75FD-979C-2D9BBDA9B76F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4388614" y="1423669"/>
            <a:ext cx="553555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640;p61">
            <a:extLst>
              <a:ext uri="{FF2B5EF4-FFF2-40B4-BE49-F238E27FC236}">
                <a16:creationId xmlns:a16="http://schemas.microsoft.com/office/drawing/2014/main" id="{257CDF7C-0B28-0457-8F7E-0F9408DBC0F1}"/>
              </a:ext>
            </a:extLst>
          </p:cNvPr>
          <p:cNvSpPr/>
          <p:nvPr/>
        </p:nvSpPr>
        <p:spPr>
          <a:xfrm>
            <a:off x="7292677" y="1046734"/>
            <a:ext cx="1800000" cy="720000"/>
          </a:xfrm>
          <a:prstGeom prst="roundRect">
            <a:avLst>
              <a:gd name="adj" fmla="val 146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4. User is redirected to Incredible Yatra App</a:t>
            </a:r>
            <a:endParaRPr sz="1200" dirty="0">
              <a:solidFill>
                <a:schemeClr val="tx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" name="Google Shape;645;p61">
            <a:extLst>
              <a:ext uri="{FF2B5EF4-FFF2-40B4-BE49-F238E27FC236}">
                <a16:creationId xmlns:a16="http://schemas.microsoft.com/office/drawing/2014/main" id="{3EA32291-3C97-9098-60D1-B3CEF0FDD55A}"/>
              </a:ext>
            </a:extLst>
          </p:cNvPr>
          <p:cNvCxnSpPr>
            <a:cxnSpLocks/>
          </p:cNvCxnSpPr>
          <p:nvPr/>
        </p:nvCxnSpPr>
        <p:spPr>
          <a:xfrm>
            <a:off x="6753636" y="1418647"/>
            <a:ext cx="5400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8E2470-CBC4-16C9-D6EF-1C333025BD51}"/>
              </a:ext>
            </a:extLst>
          </p:cNvPr>
          <p:cNvGrpSpPr/>
          <p:nvPr/>
        </p:nvGrpSpPr>
        <p:grpSpPr>
          <a:xfrm>
            <a:off x="-375110" y="1777239"/>
            <a:ext cx="10132033" cy="3100123"/>
            <a:chOff x="-398556" y="1777239"/>
            <a:chExt cx="10132033" cy="310012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942A8CA-693F-6F6A-7AB9-F8B54E4A4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51877" y="1790740"/>
              <a:ext cx="3081600" cy="308160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5E9FC61-1AF8-D492-5187-1D72115CAA49}"/>
                </a:ext>
              </a:extLst>
            </p:cNvPr>
            <p:cNvGrpSpPr/>
            <p:nvPr/>
          </p:nvGrpSpPr>
          <p:grpSpPr>
            <a:xfrm>
              <a:off x="-398556" y="1777239"/>
              <a:ext cx="7755587" cy="3100123"/>
              <a:chOff x="-398556" y="1777239"/>
              <a:chExt cx="7755587" cy="3100123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CACC594-361E-622F-AE8F-86E05215C9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75431" y="1795762"/>
                <a:ext cx="3081600" cy="30816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89A72F34-9586-F9D4-295B-C105BB0A52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8625" y="1790004"/>
                <a:ext cx="3081600" cy="308160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4881250-B99D-A258-61F6-45E4F4465D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398556" y="1777239"/>
                <a:ext cx="3082704" cy="3082704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D1F6FD3-C421-0CC7-B821-3D1245E2F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87511" y="2249177"/>
                <a:ext cx="938654" cy="73802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1445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/>
          <p:nvPr/>
        </p:nvSpPr>
        <p:spPr>
          <a:xfrm rot="10800000">
            <a:off x="773400" y="2571825"/>
            <a:ext cx="4259100" cy="2828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0"/>
          <p:cNvSpPr/>
          <p:nvPr/>
        </p:nvSpPr>
        <p:spPr>
          <a:xfrm>
            <a:off x="895950" y="3611750"/>
            <a:ext cx="4020900" cy="7278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0"/>
          <p:cNvSpPr txBox="1"/>
          <p:nvPr/>
        </p:nvSpPr>
        <p:spPr>
          <a:xfrm>
            <a:off x="895948" y="2899000"/>
            <a:ext cx="4020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Scan QR Code </a:t>
            </a:r>
            <a:b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to verify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1D4484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4" name="Google Shape;404;p70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0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0"/>
          <p:cNvSpPr txBox="1"/>
          <p:nvPr/>
        </p:nvSpPr>
        <p:spPr>
          <a:xfrm>
            <a:off x="1014477" y="3612250"/>
            <a:ext cx="367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EF8600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Peer to Peer verification which works offline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EF8600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7" name="Google Shape;407;p70"/>
          <p:cNvSpPr txBox="1"/>
          <p:nvPr/>
        </p:nvSpPr>
        <p:spPr>
          <a:xfrm rot="-5400000">
            <a:off x="-585992" y="256805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Functional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09" name="Google Shape;4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9;p69">
            <a:extLst>
              <a:ext uri="{FF2B5EF4-FFF2-40B4-BE49-F238E27FC236}">
                <a16:creationId xmlns:a16="http://schemas.microsoft.com/office/drawing/2014/main" id="{A20E4055-B29F-3F07-10A4-46886AADF2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8402" y="365105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0;p69">
            <a:extLst>
              <a:ext uri="{FF2B5EF4-FFF2-40B4-BE49-F238E27FC236}">
                <a16:creationId xmlns:a16="http://schemas.microsoft.com/office/drawing/2014/main" id="{BA6E51AE-A26B-4AF0-DDA4-2BCC2E26E9F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0815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91;p69">
            <a:extLst>
              <a:ext uri="{FF2B5EF4-FFF2-40B4-BE49-F238E27FC236}">
                <a16:creationId xmlns:a16="http://schemas.microsoft.com/office/drawing/2014/main" id="{C923275C-1EE5-34D2-69A8-FDEDC0BEFBC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5600" y="365108"/>
            <a:ext cx="2024826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92;p69">
            <a:extLst>
              <a:ext uri="{FF2B5EF4-FFF2-40B4-BE49-F238E27FC236}">
                <a16:creationId xmlns:a16="http://schemas.microsoft.com/office/drawing/2014/main" id="{23C38634-86C1-CD93-F85C-89FB9A869AC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38402" y="365108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93;p69">
            <a:extLst>
              <a:ext uri="{FF2B5EF4-FFF2-40B4-BE49-F238E27FC236}">
                <a16:creationId xmlns:a16="http://schemas.microsoft.com/office/drawing/2014/main" id="{F549E3A6-F01B-158F-DEF3-5A9FC6BDC64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40815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94;p69">
            <a:extLst>
              <a:ext uri="{FF2B5EF4-FFF2-40B4-BE49-F238E27FC236}">
                <a16:creationId xmlns:a16="http://schemas.microsoft.com/office/drawing/2014/main" id="{76841D14-9512-7CD9-4AEC-136769F6642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38341" y="365059"/>
            <a:ext cx="2039345" cy="4413383"/>
          </a:xfrm>
          <a:prstGeom prst="roundRect">
            <a:avLst>
              <a:gd name="adj" fmla="val 3961"/>
            </a:avLst>
          </a:prstGeom>
          <a:noFill/>
          <a:ln w="9200" cap="flat" cmpd="sng">
            <a:solidFill>
              <a:srgbClr val="FFD1A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1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1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1"/>
          <p:cNvSpPr txBox="1"/>
          <p:nvPr/>
        </p:nvSpPr>
        <p:spPr>
          <a:xfrm rot="-5400000">
            <a:off x="-585992" y="256805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Functional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23" name="Google Shape;42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9;p69">
            <a:extLst>
              <a:ext uri="{FF2B5EF4-FFF2-40B4-BE49-F238E27FC236}">
                <a16:creationId xmlns:a16="http://schemas.microsoft.com/office/drawing/2014/main" id="{83A245E9-4453-2C3B-EBC5-BD08290659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8402" y="365105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0;p69">
            <a:extLst>
              <a:ext uri="{FF2B5EF4-FFF2-40B4-BE49-F238E27FC236}">
                <a16:creationId xmlns:a16="http://schemas.microsoft.com/office/drawing/2014/main" id="{51158116-5AFA-A59D-B030-A044AC070C3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0815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91;p69">
            <a:extLst>
              <a:ext uri="{FF2B5EF4-FFF2-40B4-BE49-F238E27FC236}">
                <a16:creationId xmlns:a16="http://schemas.microsoft.com/office/drawing/2014/main" id="{B2E785E4-B1AE-4D38-66C2-CAD956B5988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5600" y="365108"/>
            <a:ext cx="2024826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92;p69">
            <a:extLst>
              <a:ext uri="{FF2B5EF4-FFF2-40B4-BE49-F238E27FC236}">
                <a16:creationId xmlns:a16="http://schemas.microsoft.com/office/drawing/2014/main" id="{D6FD3F2F-BA20-9E17-E5C6-7C3193CF741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38402" y="365108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93;p69">
            <a:extLst>
              <a:ext uri="{FF2B5EF4-FFF2-40B4-BE49-F238E27FC236}">
                <a16:creationId xmlns:a16="http://schemas.microsoft.com/office/drawing/2014/main" id="{0C50C215-1292-0B2E-39F6-5A289E33D9F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40815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94;p69">
            <a:extLst>
              <a:ext uri="{FF2B5EF4-FFF2-40B4-BE49-F238E27FC236}">
                <a16:creationId xmlns:a16="http://schemas.microsoft.com/office/drawing/2014/main" id="{33B95A16-44E0-B853-B203-2B4F67680B4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5444" y="365059"/>
            <a:ext cx="2039345" cy="4413383"/>
          </a:xfrm>
          <a:prstGeom prst="roundRect">
            <a:avLst>
              <a:gd name="adj" fmla="val 3961"/>
            </a:avLst>
          </a:prstGeom>
          <a:noFill/>
          <a:ln w="9200" cap="flat" cmpd="sng">
            <a:solidFill>
              <a:srgbClr val="FFD1A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" name="Google Shape;429;p72">
            <a:extLst>
              <a:ext uri="{FF2B5EF4-FFF2-40B4-BE49-F238E27FC236}">
                <a16:creationId xmlns:a16="http://schemas.microsoft.com/office/drawing/2014/main" id="{76E590AF-3FA5-5248-BA77-773D99064FEB}"/>
              </a:ext>
            </a:extLst>
          </p:cNvPr>
          <p:cNvSpPr/>
          <p:nvPr/>
        </p:nvSpPr>
        <p:spPr>
          <a:xfrm rot="10800000">
            <a:off x="763820" y="2571825"/>
            <a:ext cx="4259100" cy="2828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30;p72">
            <a:extLst>
              <a:ext uri="{FF2B5EF4-FFF2-40B4-BE49-F238E27FC236}">
                <a16:creationId xmlns:a16="http://schemas.microsoft.com/office/drawing/2014/main" id="{B39B5559-BEE0-778A-B634-AFB483E44E7C}"/>
              </a:ext>
            </a:extLst>
          </p:cNvPr>
          <p:cNvSpPr/>
          <p:nvPr/>
        </p:nvSpPr>
        <p:spPr>
          <a:xfrm>
            <a:off x="886370" y="3611750"/>
            <a:ext cx="4020900" cy="7278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31;p72">
            <a:extLst>
              <a:ext uri="{FF2B5EF4-FFF2-40B4-BE49-F238E27FC236}">
                <a16:creationId xmlns:a16="http://schemas.microsoft.com/office/drawing/2014/main" id="{99AF2626-7A4D-CD25-6BB8-A886A13DF403}"/>
              </a:ext>
            </a:extLst>
          </p:cNvPr>
          <p:cNvSpPr txBox="1"/>
          <p:nvPr/>
        </p:nvSpPr>
        <p:spPr>
          <a:xfrm>
            <a:off x="886368" y="2899000"/>
            <a:ext cx="4020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Minimum Data. </a:t>
            </a:r>
            <a:b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Maximum Privacy.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1D4484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" name="Google Shape;434;p72">
            <a:extLst>
              <a:ext uri="{FF2B5EF4-FFF2-40B4-BE49-F238E27FC236}">
                <a16:creationId xmlns:a16="http://schemas.microsoft.com/office/drawing/2014/main" id="{4885F5E6-6CFA-E9B3-D9D9-49184706F971}"/>
              </a:ext>
            </a:extLst>
          </p:cNvPr>
          <p:cNvSpPr txBox="1"/>
          <p:nvPr/>
        </p:nvSpPr>
        <p:spPr>
          <a:xfrm>
            <a:off x="1004897" y="3699836"/>
            <a:ext cx="367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EF8600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Selective sharing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EF8600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2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2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2"/>
          <p:cNvSpPr txBox="1"/>
          <p:nvPr/>
        </p:nvSpPr>
        <p:spPr>
          <a:xfrm rot="-5400000">
            <a:off x="-585992" y="256805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Functional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37" name="Google Shape;43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9;p69">
            <a:extLst>
              <a:ext uri="{FF2B5EF4-FFF2-40B4-BE49-F238E27FC236}">
                <a16:creationId xmlns:a16="http://schemas.microsoft.com/office/drawing/2014/main" id="{F9BECAA6-2515-C68D-A9B0-998C473181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8402" y="365105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0;p69">
            <a:extLst>
              <a:ext uri="{FF2B5EF4-FFF2-40B4-BE49-F238E27FC236}">
                <a16:creationId xmlns:a16="http://schemas.microsoft.com/office/drawing/2014/main" id="{B606A05A-379A-56A8-DB2F-5214DC58ADC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0815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91;p69">
            <a:extLst>
              <a:ext uri="{FF2B5EF4-FFF2-40B4-BE49-F238E27FC236}">
                <a16:creationId xmlns:a16="http://schemas.microsoft.com/office/drawing/2014/main" id="{AAF1C2E2-3EC2-25C4-ACE8-CE2AEF39001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5600" y="365108"/>
            <a:ext cx="2024826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92;p69">
            <a:extLst>
              <a:ext uri="{FF2B5EF4-FFF2-40B4-BE49-F238E27FC236}">
                <a16:creationId xmlns:a16="http://schemas.microsoft.com/office/drawing/2014/main" id="{3CD189EA-BF87-8177-E723-876A49FB01D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38402" y="365108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93;p69">
            <a:extLst>
              <a:ext uri="{FF2B5EF4-FFF2-40B4-BE49-F238E27FC236}">
                <a16:creationId xmlns:a16="http://schemas.microsoft.com/office/drawing/2014/main" id="{9DFDB901-D9FB-5D1D-5E41-40AAE0F15E9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5254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43;p73">
            <a:extLst>
              <a:ext uri="{FF2B5EF4-FFF2-40B4-BE49-F238E27FC236}">
                <a16:creationId xmlns:a16="http://schemas.microsoft.com/office/drawing/2014/main" id="{367B6CA1-91FF-E483-A307-F2B89FEDF681}"/>
              </a:ext>
            </a:extLst>
          </p:cNvPr>
          <p:cNvSpPr/>
          <p:nvPr/>
        </p:nvSpPr>
        <p:spPr>
          <a:xfrm rot="10800000">
            <a:off x="773400" y="2571825"/>
            <a:ext cx="4259100" cy="2828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44;p73">
            <a:extLst>
              <a:ext uri="{FF2B5EF4-FFF2-40B4-BE49-F238E27FC236}">
                <a16:creationId xmlns:a16="http://schemas.microsoft.com/office/drawing/2014/main" id="{0F9BDF9B-E383-EB18-AEEF-FC2F3AC78C23}"/>
              </a:ext>
            </a:extLst>
          </p:cNvPr>
          <p:cNvSpPr/>
          <p:nvPr/>
        </p:nvSpPr>
        <p:spPr>
          <a:xfrm>
            <a:off x="895950" y="3611750"/>
            <a:ext cx="4020900" cy="7278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45;p73">
            <a:extLst>
              <a:ext uri="{FF2B5EF4-FFF2-40B4-BE49-F238E27FC236}">
                <a16:creationId xmlns:a16="http://schemas.microsoft.com/office/drawing/2014/main" id="{CE7E184C-5C42-EF48-433E-DC12F41F290E}"/>
              </a:ext>
            </a:extLst>
          </p:cNvPr>
          <p:cNvSpPr txBox="1"/>
          <p:nvPr/>
        </p:nvSpPr>
        <p:spPr>
          <a:xfrm>
            <a:off x="895948" y="2899000"/>
            <a:ext cx="4020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Multiple profiles, </a:t>
            </a:r>
            <a:b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One App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1D4484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" name="Google Shape;448;p73">
            <a:extLst>
              <a:ext uri="{FF2B5EF4-FFF2-40B4-BE49-F238E27FC236}">
                <a16:creationId xmlns:a16="http://schemas.microsoft.com/office/drawing/2014/main" id="{169B8625-FFC6-5F81-5635-7FBA5F857407}"/>
              </a:ext>
            </a:extLst>
          </p:cNvPr>
          <p:cNvSpPr txBox="1"/>
          <p:nvPr/>
        </p:nvSpPr>
        <p:spPr>
          <a:xfrm>
            <a:off x="1014477" y="3623198"/>
            <a:ext cx="367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EF8600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Designed for families and shared devices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EF8600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3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3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73"/>
          <p:cNvSpPr txBox="1"/>
          <p:nvPr/>
        </p:nvSpPr>
        <p:spPr>
          <a:xfrm rot="-5400000">
            <a:off x="-585992" y="256805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Functional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54" name="Google Shape;45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9;p69">
            <a:extLst>
              <a:ext uri="{FF2B5EF4-FFF2-40B4-BE49-F238E27FC236}">
                <a16:creationId xmlns:a16="http://schemas.microsoft.com/office/drawing/2014/main" id="{66E1123C-6032-CBE2-65BE-53149CC518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8402" y="365105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0;p69">
            <a:extLst>
              <a:ext uri="{FF2B5EF4-FFF2-40B4-BE49-F238E27FC236}">
                <a16:creationId xmlns:a16="http://schemas.microsoft.com/office/drawing/2014/main" id="{CB8A0022-93B2-B295-5C85-C085881B91A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0815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91;p69">
            <a:extLst>
              <a:ext uri="{FF2B5EF4-FFF2-40B4-BE49-F238E27FC236}">
                <a16:creationId xmlns:a16="http://schemas.microsoft.com/office/drawing/2014/main" id="{48975789-F78B-1660-12F5-A95B8547BBD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5600" y="365108"/>
            <a:ext cx="2024826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92;p69">
            <a:extLst>
              <a:ext uri="{FF2B5EF4-FFF2-40B4-BE49-F238E27FC236}">
                <a16:creationId xmlns:a16="http://schemas.microsoft.com/office/drawing/2014/main" id="{6B8FF502-5135-A535-68B5-805132D020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64714" y="365108"/>
            <a:ext cx="2039222" cy="441308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60;p74">
            <a:extLst>
              <a:ext uri="{FF2B5EF4-FFF2-40B4-BE49-F238E27FC236}">
                <a16:creationId xmlns:a16="http://schemas.microsoft.com/office/drawing/2014/main" id="{BD1608C1-0F42-537A-8D3D-90ACE4292BBD}"/>
              </a:ext>
            </a:extLst>
          </p:cNvPr>
          <p:cNvSpPr/>
          <p:nvPr/>
        </p:nvSpPr>
        <p:spPr>
          <a:xfrm rot="10800000">
            <a:off x="773400" y="2571825"/>
            <a:ext cx="4259100" cy="2828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461;p74">
            <a:extLst>
              <a:ext uri="{FF2B5EF4-FFF2-40B4-BE49-F238E27FC236}">
                <a16:creationId xmlns:a16="http://schemas.microsoft.com/office/drawing/2014/main" id="{97E94A08-D147-ED90-1DE9-CF92F8AC4B39}"/>
              </a:ext>
            </a:extLst>
          </p:cNvPr>
          <p:cNvSpPr/>
          <p:nvPr/>
        </p:nvSpPr>
        <p:spPr>
          <a:xfrm>
            <a:off x="895950" y="3611750"/>
            <a:ext cx="4020900" cy="8430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462;p74">
            <a:extLst>
              <a:ext uri="{FF2B5EF4-FFF2-40B4-BE49-F238E27FC236}">
                <a16:creationId xmlns:a16="http://schemas.microsoft.com/office/drawing/2014/main" id="{AE79F44D-08AB-43C0-3DC7-AD92A313D9EF}"/>
              </a:ext>
            </a:extLst>
          </p:cNvPr>
          <p:cNvSpPr txBox="1"/>
          <p:nvPr/>
        </p:nvSpPr>
        <p:spPr>
          <a:xfrm>
            <a:off x="895948" y="2899000"/>
            <a:ext cx="4020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In Minutes, </a:t>
            </a:r>
            <a:b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Zero Visits.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1D4484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" name="Google Shape;465;p74">
            <a:extLst>
              <a:ext uri="{FF2B5EF4-FFF2-40B4-BE49-F238E27FC236}">
                <a16:creationId xmlns:a16="http://schemas.microsoft.com/office/drawing/2014/main" id="{150957F8-B5AF-BA00-1246-83EA4AA3A7B7}"/>
              </a:ext>
            </a:extLst>
          </p:cNvPr>
          <p:cNvSpPr txBox="1"/>
          <p:nvPr/>
        </p:nvSpPr>
        <p:spPr>
          <a:xfrm>
            <a:off x="1014477" y="3623198"/>
            <a:ext cx="367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EF8600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Address and existing mobile number updates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EF8600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74;p75">
            <a:extLst>
              <a:ext uri="{FF2B5EF4-FFF2-40B4-BE49-F238E27FC236}">
                <a16:creationId xmlns:a16="http://schemas.microsoft.com/office/drawing/2014/main" id="{1BC67758-ABB0-577C-636C-0CBDE0EDB76C}"/>
              </a:ext>
            </a:extLst>
          </p:cNvPr>
          <p:cNvSpPr/>
          <p:nvPr/>
        </p:nvSpPr>
        <p:spPr>
          <a:xfrm rot="10800000">
            <a:off x="773400" y="2571825"/>
            <a:ext cx="4259100" cy="2828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4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4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4"/>
          <p:cNvSpPr txBox="1"/>
          <p:nvPr/>
        </p:nvSpPr>
        <p:spPr>
          <a:xfrm rot="-5400000">
            <a:off x="-585992" y="256805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Functional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68" name="Google Shape;46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9;p69">
            <a:extLst>
              <a:ext uri="{FF2B5EF4-FFF2-40B4-BE49-F238E27FC236}">
                <a16:creationId xmlns:a16="http://schemas.microsoft.com/office/drawing/2014/main" id="{254EFF50-594B-101C-8D9C-59DF92E079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8402" y="365105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0;p69">
            <a:extLst>
              <a:ext uri="{FF2B5EF4-FFF2-40B4-BE49-F238E27FC236}">
                <a16:creationId xmlns:a16="http://schemas.microsoft.com/office/drawing/2014/main" id="{9F1B8850-1B4E-7040-4170-3F371E035DA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0815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91;p69">
            <a:extLst>
              <a:ext uri="{FF2B5EF4-FFF2-40B4-BE49-F238E27FC236}">
                <a16:creationId xmlns:a16="http://schemas.microsoft.com/office/drawing/2014/main" id="{ABEAA520-8BF8-10C8-55C7-B42A4C76FFF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93131" y="365108"/>
            <a:ext cx="2024826" cy="44130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75">
            <a:extLst>
              <a:ext uri="{FF2B5EF4-FFF2-40B4-BE49-F238E27FC236}">
                <a16:creationId xmlns:a16="http://schemas.microsoft.com/office/drawing/2014/main" id="{DF30B3EA-042B-A25E-2DCF-89E3F35EB066}"/>
              </a:ext>
            </a:extLst>
          </p:cNvPr>
          <p:cNvSpPr/>
          <p:nvPr/>
        </p:nvSpPr>
        <p:spPr>
          <a:xfrm>
            <a:off x="895950" y="3611750"/>
            <a:ext cx="4020900" cy="8712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476;p75">
            <a:extLst>
              <a:ext uri="{FF2B5EF4-FFF2-40B4-BE49-F238E27FC236}">
                <a16:creationId xmlns:a16="http://schemas.microsoft.com/office/drawing/2014/main" id="{11FCECBA-F9EF-8762-3EE1-EF6113FCCE60}"/>
              </a:ext>
            </a:extLst>
          </p:cNvPr>
          <p:cNvSpPr txBox="1"/>
          <p:nvPr/>
        </p:nvSpPr>
        <p:spPr>
          <a:xfrm>
            <a:off x="895948" y="2899000"/>
            <a:ext cx="4020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Your Aadhaar. </a:t>
            </a:r>
            <a:b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kumimoji="0" lang="en" sz="1600" b="1" i="0" u="none" strike="noStrike" kern="0" cap="none" spc="0" normalizeH="0" baseline="0" noProof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In Your Control.</a:t>
            </a: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1D4484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" name="Google Shape;479;p75">
            <a:extLst>
              <a:ext uri="{FF2B5EF4-FFF2-40B4-BE49-F238E27FC236}">
                <a16:creationId xmlns:a16="http://schemas.microsoft.com/office/drawing/2014/main" id="{EFB0B0B1-CAC1-28F1-449E-E229EADFB1C4}"/>
              </a:ext>
            </a:extLst>
          </p:cNvPr>
          <p:cNvSpPr txBox="1"/>
          <p:nvPr/>
        </p:nvSpPr>
        <p:spPr>
          <a:xfrm>
            <a:off x="1014477" y="3623198"/>
            <a:ext cx="367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EF8600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Biometric Lock/Unlock &amp; Authentication History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EF8600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5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5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75"/>
          <p:cNvSpPr txBox="1"/>
          <p:nvPr/>
        </p:nvSpPr>
        <p:spPr>
          <a:xfrm rot="-5400000">
            <a:off x="-585992" y="256805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Functional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82" name="Google Shape;48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89;p69">
            <a:extLst>
              <a:ext uri="{FF2B5EF4-FFF2-40B4-BE49-F238E27FC236}">
                <a16:creationId xmlns:a16="http://schemas.microsoft.com/office/drawing/2014/main" id="{8FF8AB60-9519-442B-0EEC-7814BB04AF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8402" y="365105"/>
            <a:ext cx="2039222" cy="441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90;p69">
            <a:extLst>
              <a:ext uri="{FF2B5EF4-FFF2-40B4-BE49-F238E27FC236}">
                <a16:creationId xmlns:a16="http://schemas.microsoft.com/office/drawing/2014/main" id="{BADA8FA8-8B0C-4230-A30F-B23644A8AF8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33313" y="365108"/>
            <a:ext cx="2034397" cy="441308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488;p76">
            <a:extLst>
              <a:ext uri="{FF2B5EF4-FFF2-40B4-BE49-F238E27FC236}">
                <a16:creationId xmlns:a16="http://schemas.microsoft.com/office/drawing/2014/main" id="{179CBDDB-5F9F-C688-CD10-8C2D61C3DF58}"/>
              </a:ext>
            </a:extLst>
          </p:cNvPr>
          <p:cNvSpPr/>
          <p:nvPr/>
        </p:nvSpPr>
        <p:spPr>
          <a:xfrm rot="10800000">
            <a:off x="773400" y="2571825"/>
            <a:ext cx="4259100" cy="28281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489;p76">
            <a:extLst>
              <a:ext uri="{FF2B5EF4-FFF2-40B4-BE49-F238E27FC236}">
                <a16:creationId xmlns:a16="http://schemas.microsoft.com/office/drawing/2014/main" id="{50B9E1FA-AA5F-980B-040C-9AD9341470CE}"/>
              </a:ext>
            </a:extLst>
          </p:cNvPr>
          <p:cNvSpPr/>
          <p:nvPr/>
        </p:nvSpPr>
        <p:spPr>
          <a:xfrm>
            <a:off x="895950" y="3611750"/>
            <a:ext cx="4020900" cy="7278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490;p76">
            <a:extLst>
              <a:ext uri="{FF2B5EF4-FFF2-40B4-BE49-F238E27FC236}">
                <a16:creationId xmlns:a16="http://schemas.microsoft.com/office/drawing/2014/main" id="{A4850BE0-F444-B49E-DCAE-C8EB68ABB651}"/>
              </a:ext>
            </a:extLst>
          </p:cNvPr>
          <p:cNvSpPr txBox="1"/>
          <p:nvPr/>
        </p:nvSpPr>
        <p:spPr>
          <a:xfrm>
            <a:off x="895948" y="2899000"/>
            <a:ext cx="4020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A Simple Way </a:t>
            </a:r>
            <a:b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rgbClr val="1D4484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to Share Contact Details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" name="Google Shape;495;p76">
            <a:extLst>
              <a:ext uri="{FF2B5EF4-FFF2-40B4-BE49-F238E27FC236}">
                <a16:creationId xmlns:a16="http://schemas.microsoft.com/office/drawing/2014/main" id="{694160B3-8777-F4C0-77BA-D062158C9E1F}"/>
              </a:ext>
            </a:extLst>
          </p:cNvPr>
          <p:cNvSpPr txBox="1"/>
          <p:nvPr/>
        </p:nvSpPr>
        <p:spPr>
          <a:xfrm>
            <a:off x="1002098" y="37161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>
                <a:ln>
                  <a:noFill/>
                </a:ln>
                <a:solidFill>
                  <a:srgbClr val="EF8600"/>
                </a:solidFill>
                <a:effectLst/>
                <a:uLnTx/>
                <a:uFillTx/>
                <a:latin typeface="Instrument Sans"/>
                <a:ea typeface="Instrument Sans"/>
                <a:cs typeface="Instrument Sans"/>
                <a:sym typeface="Instrument Sans"/>
              </a:rPr>
              <a:t> Contact cards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EF8600"/>
              </a:solidFill>
              <a:effectLst/>
              <a:uLnTx/>
              <a:uFillTx/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7"/>
          <p:cNvSpPr/>
          <p:nvPr/>
        </p:nvSpPr>
        <p:spPr>
          <a:xfrm>
            <a:off x="0" y="5058175"/>
            <a:ext cx="9144000" cy="85200"/>
          </a:xfrm>
          <a:prstGeom prst="rect">
            <a:avLst/>
          </a:prstGeom>
          <a:solidFill>
            <a:srgbClr val="0923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Google Shape;502;p77"/>
          <p:cNvPicPr preferRelativeResize="0"/>
          <p:nvPr/>
        </p:nvPicPr>
        <p:blipFill rotWithShape="1">
          <a:blip r:embed="rId3">
            <a:alphaModFix/>
          </a:blip>
          <a:srcRect r="73547"/>
          <a:stretch/>
        </p:blipFill>
        <p:spPr>
          <a:xfrm>
            <a:off x="-63700" y="-637725"/>
            <a:ext cx="9271402" cy="2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77"/>
          <p:cNvSpPr txBox="1"/>
          <p:nvPr/>
        </p:nvSpPr>
        <p:spPr>
          <a:xfrm>
            <a:off x="307500" y="494450"/>
            <a:ext cx="58632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3200" b="1">
                <a:solidFill>
                  <a:srgbClr val="073459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App is</a:t>
            </a:r>
            <a:r>
              <a:rPr lang="en" sz="3200" b="1">
                <a:solidFill>
                  <a:schemeClr val="lt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 </a:t>
            </a:r>
            <a:r>
              <a:rPr lang="en" sz="3200" b="1">
                <a:solidFill>
                  <a:srgbClr val="F79433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 Platform</a:t>
            </a:r>
            <a:endParaRPr sz="3200" b="1">
              <a:solidFill>
                <a:srgbClr val="F79433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pic>
        <p:nvPicPr>
          <p:cNvPr id="504" name="Google Shape;504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77"/>
          <p:cNvSpPr/>
          <p:nvPr/>
        </p:nvSpPr>
        <p:spPr>
          <a:xfrm>
            <a:off x="5826225" y="1506167"/>
            <a:ext cx="2074800" cy="34314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77"/>
          <p:cNvSpPr txBox="1"/>
          <p:nvPr/>
        </p:nvSpPr>
        <p:spPr>
          <a:xfrm>
            <a:off x="5922425" y="4343070"/>
            <a:ext cx="17142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" sz="1500" b="1">
                <a:solidFill>
                  <a:srgbClr val="073459"/>
                </a:solidFill>
              </a:rPr>
              <a:t>Verifiable Credentials</a:t>
            </a:r>
            <a:endParaRPr sz="1500" b="1">
              <a:solidFill>
                <a:srgbClr val="073459"/>
              </a:solidFill>
            </a:endParaRPr>
          </a:p>
        </p:txBody>
      </p:sp>
      <p:sp>
        <p:nvSpPr>
          <p:cNvPr id="507" name="Google Shape;507;p77"/>
          <p:cNvSpPr/>
          <p:nvPr/>
        </p:nvSpPr>
        <p:spPr>
          <a:xfrm>
            <a:off x="1308900" y="1506167"/>
            <a:ext cx="2074800" cy="34314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77"/>
          <p:cNvSpPr txBox="1"/>
          <p:nvPr/>
        </p:nvSpPr>
        <p:spPr>
          <a:xfrm>
            <a:off x="1401950" y="4343070"/>
            <a:ext cx="17142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073459"/>
                </a:solidFill>
                <a:latin typeface="Arial"/>
                <a:ea typeface="Arial"/>
                <a:cs typeface="Arial"/>
                <a:sym typeface="Arial"/>
              </a:rPr>
              <a:t>Integrated</a:t>
            </a:r>
            <a:endParaRPr sz="1500" b="1" i="0" u="none" strike="noStrike" cap="none">
              <a:solidFill>
                <a:srgbClr val="0734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073459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sz="1500" b="1" i="0" u="none" strike="noStrike" cap="none">
              <a:solidFill>
                <a:srgbClr val="0734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7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8838" y="1670504"/>
            <a:ext cx="997200" cy="2158200"/>
          </a:xfrm>
          <a:prstGeom prst="roundRect">
            <a:avLst>
              <a:gd name="adj" fmla="val 3961"/>
            </a:avLst>
          </a:prstGeom>
          <a:noFill/>
          <a:ln w="9425" cap="flat" cmpd="sng">
            <a:solidFill>
              <a:srgbClr val="FFD1A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0" name="Google Shape;510;p7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4689" y="1910261"/>
            <a:ext cx="1059073" cy="2291942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7"/>
          <p:cNvSpPr/>
          <p:nvPr/>
        </p:nvSpPr>
        <p:spPr>
          <a:xfrm>
            <a:off x="3534600" y="1506167"/>
            <a:ext cx="2074800" cy="34314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7"/>
          <p:cNvSpPr txBox="1"/>
          <p:nvPr/>
        </p:nvSpPr>
        <p:spPr>
          <a:xfrm>
            <a:off x="3630800" y="4343070"/>
            <a:ext cx="17142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" sz="1500" b="1">
                <a:solidFill>
                  <a:srgbClr val="073459"/>
                </a:solidFill>
              </a:rPr>
              <a:t>Face</a:t>
            </a:r>
            <a:br>
              <a:rPr lang="en" sz="1500" b="1">
                <a:solidFill>
                  <a:srgbClr val="073459"/>
                </a:solidFill>
              </a:rPr>
            </a:br>
            <a:r>
              <a:rPr lang="en" sz="1500" b="1">
                <a:solidFill>
                  <a:srgbClr val="073459"/>
                </a:solidFill>
              </a:rPr>
              <a:t>Verification</a:t>
            </a:r>
            <a:endParaRPr sz="1500" b="1" i="0" u="none" strike="noStrike" cap="none">
              <a:solidFill>
                <a:srgbClr val="0734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7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89998" y="1612093"/>
            <a:ext cx="1164000" cy="2531700"/>
          </a:xfrm>
          <a:prstGeom prst="roundRect">
            <a:avLst>
              <a:gd name="adj" fmla="val 4692"/>
            </a:avLst>
          </a:prstGeom>
          <a:noFill/>
          <a:ln w="9525" cap="flat" cmpd="sng">
            <a:solidFill>
              <a:srgbClr val="FFD1A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4" name="Google Shape;514;p7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1627" y="1612094"/>
            <a:ext cx="1163999" cy="25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78"/>
          <p:cNvPicPr preferRelativeResize="0"/>
          <p:nvPr/>
        </p:nvPicPr>
        <p:blipFill rotWithShape="1">
          <a:blip r:embed="rId3">
            <a:alphaModFix/>
          </a:blip>
          <a:srcRect r="73547"/>
          <a:stretch/>
        </p:blipFill>
        <p:spPr>
          <a:xfrm>
            <a:off x="-52411" y="521650"/>
            <a:ext cx="9271402" cy="2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78"/>
          <p:cNvSpPr/>
          <p:nvPr/>
        </p:nvSpPr>
        <p:spPr>
          <a:xfrm>
            <a:off x="3633750" y="932925"/>
            <a:ext cx="2060400" cy="2060400"/>
          </a:xfrm>
          <a:prstGeom prst="ellipse">
            <a:avLst/>
          </a:prstGeom>
          <a:solidFill>
            <a:srgbClr val="FEE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1" name="Google Shape;521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78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78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78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5" name="Google Shape;525;p78"/>
          <p:cNvSpPr/>
          <p:nvPr/>
        </p:nvSpPr>
        <p:spPr>
          <a:xfrm>
            <a:off x="6175225" y="2429255"/>
            <a:ext cx="2722500" cy="23610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78"/>
          <p:cNvSpPr/>
          <p:nvPr/>
        </p:nvSpPr>
        <p:spPr>
          <a:xfrm>
            <a:off x="6287425" y="2429270"/>
            <a:ext cx="2498100" cy="2183700"/>
          </a:xfrm>
          <a:prstGeom prst="round2SameRect">
            <a:avLst>
              <a:gd name="adj1" fmla="val 9277"/>
              <a:gd name="adj2" fmla="val 12456"/>
            </a:avLst>
          </a:prstGeom>
          <a:gradFill>
            <a:gsLst>
              <a:gs pos="0">
                <a:srgbClr val="FFDDB2"/>
              </a:gs>
              <a:gs pos="33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78"/>
          <p:cNvSpPr/>
          <p:nvPr/>
        </p:nvSpPr>
        <p:spPr>
          <a:xfrm>
            <a:off x="6287425" y="2932275"/>
            <a:ext cx="2498100" cy="1707000"/>
          </a:xfrm>
          <a:prstGeom prst="round2SameRect">
            <a:avLst>
              <a:gd name="adj1" fmla="val 9277"/>
              <a:gd name="adj2" fmla="val 10664"/>
            </a:avLst>
          </a:prstGeom>
          <a:gradFill>
            <a:gsLst>
              <a:gs pos="0">
                <a:srgbClr val="FFDDB2"/>
              </a:gs>
              <a:gs pos="58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78"/>
          <p:cNvSpPr/>
          <p:nvPr/>
        </p:nvSpPr>
        <p:spPr>
          <a:xfrm>
            <a:off x="6287425" y="3416850"/>
            <a:ext cx="2498100" cy="1209900"/>
          </a:xfrm>
          <a:prstGeom prst="round2SameRect">
            <a:avLst>
              <a:gd name="adj1" fmla="val 9277"/>
              <a:gd name="adj2" fmla="val 11370"/>
            </a:avLst>
          </a:prstGeom>
          <a:gradFill>
            <a:gsLst>
              <a:gs pos="0">
                <a:srgbClr val="FFDDB2"/>
              </a:gs>
              <a:gs pos="84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78"/>
          <p:cNvSpPr/>
          <p:nvPr/>
        </p:nvSpPr>
        <p:spPr>
          <a:xfrm>
            <a:off x="6287425" y="3893301"/>
            <a:ext cx="2498100" cy="745800"/>
          </a:xfrm>
          <a:prstGeom prst="round2SameRect">
            <a:avLst>
              <a:gd name="adj1" fmla="val 9277"/>
              <a:gd name="adj2" fmla="val 22412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78"/>
          <p:cNvSpPr txBox="1"/>
          <p:nvPr/>
        </p:nvSpPr>
        <p:spPr>
          <a:xfrm>
            <a:off x="6388457" y="2464541"/>
            <a:ext cx="231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Relying parties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1" name="Google Shape;531;p78"/>
          <p:cNvSpPr txBox="1"/>
          <p:nvPr/>
        </p:nvSpPr>
        <p:spPr>
          <a:xfrm>
            <a:off x="6367463" y="3074900"/>
            <a:ext cx="23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4" name="Google Shape;534;p78"/>
          <p:cNvSpPr/>
          <p:nvPr/>
        </p:nvSpPr>
        <p:spPr>
          <a:xfrm>
            <a:off x="425613" y="2393968"/>
            <a:ext cx="2722500" cy="23610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78"/>
          <p:cNvSpPr/>
          <p:nvPr/>
        </p:nvSpPr>
        <p:spPr>
          <a:xfrm>
            <a:off x="537813" y="2393982"/>
            <a:ext cx="2498100" cy="2183700"/>
          </a:xfrm>
          <a:prstGeom prst="round2SameRect">
            <a:avLst>
              <a:gd name="adj1" fmla="val 9277"/>
              <a:gd name="adj2" fmla="val 12456"/>
            </a:avLst>
          </a:prstGeom>
          <a:gradFill>
            <a:gsLst>
              <a:gs pos="0">
                <a:srgbClr val="FFDDB2"/>
              </a:gs>
              <a:gs pos="33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78"/>
          <p:cNvSpPr/>
          <p:nvPr/>
        </p:nvSpPr>
        <p:spPr>
          <a:xfrm>
            <a:off x="537813" y="2896988"/>
            <a:ext cx="2498100" cy="1707000"/>
          </a:xfrm>
          <a:prstGeom prst="round2SameRect">
            <a:avLst>
              <a:gd name="adj1" fmla="val 9277"/>
              <a:gd name="adj2" fmla="val 10664"/>
            </a:avLst>
          </a:prstGeom>
          <a:gradFill>
            <a:gsLst>
              <a:gs pos="0">
                <a:srgbClr val="FFDDB2"/>
              </a:gs>
              <a:gs pos="58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78"/>
          <p:cNvSpPr/>
          <p:nvPr/>
        </p:nvSpPr>
        <p:spPr>
          <a:xfrm>
            <a:off x="537813" y="3381562"/>
            <a:ext cx="2498100" cy="1209900"/>
          </a:xfrm>
          <a:prstGeom prst="round2SameRect">
            <a:avLst>
              <a:gd name="adj1" fmla="val 9277"/>
              <a:gd name="adj2" fmla="val 11370"/>
            </a:avLst>
          </a:prstGeom>
          <a:gradFill>
            <a:gsLst>
              <a:gs pos="0">
                <a:srgbClr val="FFDDB2"/>
              </a:gs>
              <a:gs pos="84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78"/>
          <p:cNvSpPr/>
          <p:nvPr/>
        </p:nvSpPr>
        <p:spPr>
          <a:xfrm>
            <a:off x="537813" y="3858013"/>
            <a:ext cx="2498100" cy="745800"/>
          </a:xfrm>
          <a:prstGeom prst="round2SameRect">
            <a:avLst>
              <a:gd name="adj1" fmla="val 9277"/>
              <a:gd name="adj2" fmla="val 22412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78"/>
          <p:cNvSpPr txBox="1"/>
          <p:nvPr/>
        </p:nvSpPr>
        <p:spPr>
          <a:xfrm>
            <a:off x="638844" y="2429254"/>
            <a:ext cx="2314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Issuer Services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0" name="Google Shape;540;p78"/>
          <p:cNvSpPr txBox="1"/>
          <p:nvPr/>
        </p:nvSpPr>
        <p:spPr>
          <a:xfrm>
            <a:off x="617850" y="3039613"/>
            <a:ext cx="23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Credential Issuance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1" name="Google Shape;541;p78"/>
          <p:cNvSpPr txBox="1"/>
          <p:nvPr/>
        </p:nvSpPr>
        <p:spPr>
          <a:xfrm>
            <a:off x="603775" y="3495763"/>
            <a:ext cx="23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Trust Registry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2" name="Google Shape;542;p78"/>
          <p:cNvSpPr txBox="1"/>
          <p:nvPr/>
        </p:nvSpPr>
        <p:spPr>
          <a:xfrm>
            <a:off x="617850" y="3962507"/>
            <a:ext cx="2356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Dispute Resolution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3" name="Google Shape;543;p78"/>
          <p:cNvSpPr txBox="1"/>
          <p:nvPr/>
        </p:nvSpPr>
        <p:spPr>
          <a:xfrm>
            <a:off x="338525" y="145350"/>
            <a:ext cx="7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based Verifiable credential ecosystem</a:t>
            </a:r>
            <a:endParaRPr sz="2000" b="1" dirty="0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grpSp>
        <p:nvGrpSpPr>
          <p:cNvPr id="544" name="Google Shape;544;p78"/>
          <p:cNvGrpSpPr/>
          <p:nvPr/>
        </p:nvGrpSpPr>
        <p:grpSpPr>
          <a:xfrm>
            <a:off x="3300425" y="3301625"/>
            <a:ext cx="2722500" cy="1491988"/>
            <a:chOff x="3282650" y="737350"/>
            <a:chExt cx="2722500" cy="1491988"/>
          </a:xfrm>
        </p:grpSpPr>
        <p:sp>
          <p:nvSpPr>
            <p:cNvPr id="545" name="Google Shape;545;p78"/>
            <p:cNvSpPr/>
            <p:nvPr/>
          </p:nvSpPr>
          <p:spPr>
            <a:xfrm>
              <a:off x="3282650" y="737350"/>
              <a:ext cx="2722500" cy="1438200"/>
            </a:xfrm>
            <a:prstGeom prst="roundRect">
              <a:avLst>
                <a:gd name="adj" fmla="val 3605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8"/>
            <p:cNvSpPr/>
            <p:nvPr/>
          </p:nvSpPr>
          <p:spPr>
            <a:xfrm>
              <a:off x="3394850" y="803500"/>
              <a:ext cx="2498100" cy="1209900"/>
            </a:xfrm>
            <a:prstGeom prst="round2SameRect">
              <a:avLst>
                <a:gd name="adj1" fmla="val 9277"/>
                <a:gd name="adj2" fmla="val 12456"/>
              </a:avLst>
            </a:prstGeom>
            <a:gradFill>
              <a:gsLst>
                <a:gs pos="0">
                  <a:srgbClr val="FFDDB2"/>
                </a:gs>
                <a:gs pos="55000">
                  <a:srgbClr val="FBFFFD"/>
                </a:gs>
                <a:gs pos="100000">
                  <a:srgbClr val="FBFFF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</a:rPr>
                <a:t> 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8"/>
            <p:cNvSpPr/>
            <p:nvPr/>
          </p:nvSpPr>
          <p:spPr>
            <a:xfrm>
              <a:off x="3394850" y="1282850"/>
              <a:ext cx="2498100" cy="745800"/>
            </a:xfrm>
            <a:prstGeom prst="round2SameRect">
              <a:avLst>
                <a:gd name="adj1" fmla="val 9277"/>
                <a:gd name="adj2" fmla="val 22412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8"/>
            <p:cNvSpPr txBox="1"/>
            <p:nvPr/>
          </p:nvSpPr>
          <p:spPr>
            <a:xfrm>
              <a:off x="4720325" y="1936838"/>
              <a:ext cx="1109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i="0" u="none" strike="noStrike" cap="none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Coming soon</a:t>
              </a:r>
              <a:endParaRPr sz="100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49" name="Google Shape;549;p78"/>
            <p:cNvSpPr txBox="1"/>
            <p:nvPr/>
          </p:nvSpPr>
          <p:spPr>
            <a:xfrm>
              <a:off x="3414607" y="893504"/>
              <a:ext cx="2314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Wallets</a:t>
              </a:r>
              <a:endParaRPr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pic>
          <p:nvPicPr>
            <p:cNvPr id="550" name="Google Shape;550;p78" title="Android App Icon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17802" y="1471076"/>
              <a:ext cx="431072" cy="43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1" name="Google Shape;551;p78" title="62a638ad03a870b920cbfd46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41285" y="1427747"/>
              <a:ext cx="595962" cy="579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78" title="iddmjo5XdQ_logos.jpe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720327" y="1501762"/>
              <a:ext cx="431100" cy="431100"/>
            </a:xfrm>
            <a:prstGeom prst="roundRect">
              <a:avLst>
                <a:gd name="adj" fmla="val 19068"/>
              </a:avLst>
            </a:prstGeom>
            <a:noFill/>
            <a:ln>
              <a:noFill/>
            </a:ln>
          </p:spPr>
        </p:pic>
        <p:pic>
          <p:nvPicPr>
            <p:cNvPr id="553" name="Google Shape;553;p7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290593" y="1496147"/>
              <a:ext cx="431101" cy="431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78"/>
            <p:cNvSpPr txBox="1"/>
            <p:nvPr/>
          </p:nvSpPr>
          <p:spPr>
            <a:xfrm>
              <a:off x="3517800" y="1890638"/>
              <a:ext cx="49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Live</a:t>
              </a:r>
              <a:endParaRPr/>
            </a:p>
          </p:txBody>
        </p:sp>
        <p:sp>
          <p:nvSpPr>
            <p:cNvPr id="555" name="Google Shape;555;p78"/>
            <p:cNvSpPr txBox="1"/>
            <p:nvPr/>
          </p:nvSpPr>
          <p:spPr>
            <a:xfrm>
              <a:off x="4085300" y="1890638"/>
              <a:ext cx="49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Live</a:t>
              </a:r>
              <a:endParaRPr/>
            </a:p>
          </p:txBody>
        </p:sp>
      </p:grpSp>
      <p:sp>
        <p:nvSpPr>
          <p:cNvPr id="556" name="Google Shape;556;p78"/>
          <p:cNvSpPr txBox="1"/>
          <p:nvPr/>
        </p:nvSpPr>
        <p:spPr>
          <a:xfrm>
            <a:off x="420938" y="1708488"/>
            <a:ext cx="2517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21 million credential downloads in 3 months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7" name="Google Shape;557;p78"/>
          <p:cNvSpPr txBox="1"/>
          <p:nvPr/>
        </p:nvSpPr>
        <p:spPr>
          <a:xfrm>
            <a:off x="6184613" y="1751213"/>
            <a:ext cx="272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110 RPs use wallet-based VC sharing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58" name="Google Shape;558;p78" title="New Mock 1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05125" y="751900"/>
            <a:ext cx="2722499" cy="25836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32;p78"/>
          <p:cNvSpPr txBox="1"/>
          <p:nvPr/>
        </p:nvSpPr>
        <p:spPr>
          <a:xfrm>
            <a:off x="6353388" y="3531051"/>
            <a:ext cx="2356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Hospitality</a:t>
            </a:r>
            <a:endParaRPr sz="1200" b="1" dirty="0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" name="Google Shape;533;p78"/>
          <p:cNvSpPr txBox="1"/>
          <p:nvPr/>
        </p:nvSpPr>
        <p:spPr>
          <a:xfrm>
            <a:off x="6367463" y="3997794"/>
            <a:ext cx="23568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identity verfication</a:t>
            </a:r>
            <a:endParaRPr sz="1200" b="1" dirty="0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9"/>
          <p:cNvSpPr/>
          <p:nvPr/>
        </p:nvSpPr>
        <p:spPr>
          <a:xfrm>
            <a:off x="3859775" y="3015772"/>
            <a:ext cx="1603800" cy="1603800"/>
          </a:xfrm>
          <a:prstGeom prst="ellipse">
            <a:avLst/>
          </a:prstGeom>
          <a:solidFill>
            <a:srgbClr val="FEE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4" name="Google Shape;564;p79"/>
          <p:cNvPicPr preferRelativeResize="0"/>
          <p:nvPr/>
        </p:nvPicPr>
        <p:blipFill rotWithShape="1">
          <a:blip r:embed="rId3">
            <a:alphaModFix/>
          </a:blip>
          <a:srcRect r="73547"/>
          <a:stretch/>
        </p:blipFill>
        <p:spPr>
          <a:xfrm>
            <a:off x="-7255" y="634541"/>
            <a:ext cx="9271402" cy="23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9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79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p79"/>
          <p:cNvGrpSpPr/>
          <p:nvPr/>
        </p:nvGrpSpPr>
        <p:grpSpPr>
          <a:xfrm>
            <a:off x="6175225" y="2451393"/>
            <a:ext cx="2722500" cy="2361000"/>
            <a:chOff x="6175225" y="2429255"/>
            <a:chExt cx="2722500" cy="2361000"/>
          </a:xfrm>
        </p:grpSpPr>
        <p:sp>
          <p:nvSpPr>
            <p:cNvPr id="570" name="Google Shape;570;p79"/>
            <p:cNvSpPr/>
            <p:nvPr/>
          </p:nvSpPr>
          <p:spPr>
            <a:xfrm>
              <a:off x="6175225" y="2429255"/>
              <a:ext cx="2722500" cy="2361000"/>
            </a:xfrm>
            <a:prstGeom prst="roundRect">
              <a:avLst>
                <a:gd name="adj" fmla="val 3605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79"/>
            <p:cNvSpPr/>
            <p:nvPr/>
          </p:nvSpPr>
          <p:spPr>
            <a:xfrm>
              <a:off x="6287425" y="2429270"/>
              <a:ext cx="2498100" cy="2183700"/>
            </a:xfrm>
            <a:prstGeom prst="round2SameRect">
              <a:avLst>
                <a:gd name="adj1" fmla="val 9277"/>
                <a:gd name="adj2" fmla="val 12456"/>
              </a:avLst>
            </a:prstGeom>
            <a:gradFill>
              <a:gsLst>
                <a:gs pos="0">
                  <a:srgbClr val="FFDDB2"/>
                </a:gs>
                <a:gs pos="33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</a:rPr>
                <a:t> 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79"/>
            <p:cNvSpPr/>
            <p:nvPr/>
          </p:nvSpPr>
          <p:spPr>
            <a:xfrm>
              <a:off x="6287425" y="2932275"/>
              <a:ext cx="2498100" cy="1707000"/>
            </a:xfrm>
            <a:prstGeom prst="round2SameRect">
              <a:avLst>
                <a:gd name="adj1" fmla="val 9277"/>
                <a:gd name="adj2" fmla="val 10664"/>
              </a:avLst>
            </a:prstGeom>
            <a:gradFill>
              <a:gsLst>
                <a:gs pos="0">
                  <a:srgbClr val="FFDDB2"/>
                </a:gs>
                <a:gs pos="58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79"/>
            <p:cNvSpPr/>
            <p:nvPr/>
          </p:nvSpPr>
          <p:spPr>
            <a:xfrm>
              <a:off x="6287425" y="3416850"/>
              <a:ext cx="2498100" cy="1209900"/>
            </a:xfrm>
            <a:prstGeom prst="round2SameRect">
              <a:avLst>
                <a:gd name="adj1" fmla="val 9277"/>
                <a:gd name="adj2" fmla="val 11370"/>
              </a:avLst>
            </a:prstGeom>
            <a:gradFill>
              <a:gsLst>
                <a:gs pos="0">
                  <a:srgbClr val="FFDDB2"/>
                </a:gs>
                <a:gs pos="84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79"/>
            <p:cNvSpPr/>
            <p:nvPr/>
          </p:nvSpPr>
          <p:spPr>
            <a:xfrm>
              <a:off x="6287425" y="3893301"/>
              <a:ext cx="2498100" cy="745800"/>
            </a:xfrm>
            <a:prstGeom prst="round2SameRect">
              <a:avLst>
                <a:gd name="adj1" fmla="val 9277"/>
                <a:gd name="adj2" fmla="val 22412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79"/>
            <p:cNvSpPr txBox="1"/>
            <p:nvPr/>
          </p:nvSpPr>
          <p:spPr>
            <a:xfrm>
              <a:off x="6388457" y="2464541"/>
              <a:ext cx="2314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Relying parties</a:t>
              </a:r>
              <a:endParaRPr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76" name="Google Shape;576;p79"/>
            <p:cNvSpPr txBox="1"/>
            <p:nvPr/>
          </p:nvSpPr>
          <p:spPr>
            <a:xfrm>
              <a:off x="6367463" y="3074900"/>
              <a:ext cx="2314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Finance</a:t>
              </a:r>
              <a:endParaRPr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579" name="Google Shape;579;p79"/>
          <p:cNvGrpSpPr/>
          <p:nvPr/>
        </p:nvGrpSpPr>
        <p:grpSpPr>
          <a:xfrm>
            <a:off x="425613" y="2451393"/>
            <a:ext cx="2722500" cy="2361000"/>
            <a:chOff x="425613" y="2393968"/>
            <a:chExt cx="2722500" cy="2361000"/>
          </a:xfrm>
        </p:grpSpPr>
        <p:sp>
          <p:nvSpPr>
            <p:cNvPr id="580" name="Google Shape;580;p79"/>
            <p:cNvSpPr/>
            <p:nvPr/>
          </p:nvSpPr>
          <p:spPr>
            <a:xfrm>
              <a:off x="425613" y="2393968"/>
              <a:ext cx="2722500" cy="2361000"/>
            </a:xfrm>
            <a:prstGeom prst="roundRect">
              <a:avLst>
                <a:gd name="adj" fmla="val 3605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79"/>
            <p:cNvSpPr/>
            <p:nvPr/>
          </p:nvSpPr>
          <p:spPr>
            <a:xfrm>
              <a:off x="537813" y="2393982"/>
              <a:ext cx="2498100" cy="2183700"/>
            </a:xfrm>
            <a:prstGeom prst="round2SameRect">
              <a:avLst>
                <a:gd name="adj1" fmla="val 9277"/>
                <a:gd name="adj2" fmla="val 12456"/>
              </a:avLst>
            </a:prstGeom>
            <a:gradFill>
              <a:gsLst>
                <a:gs pos="0">
                  <a:srgbClr val="FFDDB2"/>
                </a:gs>
                <a:gs pos="33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</a:rPr>
                <a:t> 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79"/>
            <p:cNvSpPr/>
            <p:nvPr/>
          </p:nvSpPr>
          <p:spPr>
            <a:xfrm>
              <a:off x="537813" y="2896988"/>
              <a:ext cx="2498100" cy="1707000"/>
            </a:xfrm>
            <a:prstGeom prst="round2SameRect">
              <a:avLst>
                <a:gd name="adj1" fmla="val 9277"/>
                <a:gd name="adj2" fmla="val 10664"/>
              </a:avLst>
            </a:prstGeom>
            <a:gradFill>
              <a:gsLst>
                <a:gs pos="0">
                  <a:srgbClr val="FFDDB2"/>
                </a:gs>
                <a:gs pos="58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79"/>
            <p:cNvSpPr/>
            <p:nvPr/>
          </p:nvSpPr>
          <p:spPr>
            <a:xfrm>
              <a:off x="537813" y="3381562"/>
              <a:ext cx="2498100" cy="1209900"/>
            </a:xfrm>
            <a:prstGeom prst="round2SameRect">
              <a:avLst>
                <a:gd name="adj1" fmla="val 9277"/>
                <a:gd name="adj2" fmla="val 11370"/>
              </a:avLst>
            </a:prstGeom>
            <a:gradFill>
              <a:gsLst>
                <a:gs pos="0">
                  <a:srgbClr val="FFDDB2"/>
                </a:gs>
                <a:gs pos="84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79"/>
            <p:cNvSpPr/>
            <p:nvPr/>
          </p:nvSpPr>
          <p:spPr>
            <a:xfrm>
              <a:off x="537813" y="3858013"/>
              <a:ext cx="2498100" cy="745800"/>
            </a:xfrm>
            <a:prstGeom prst="round2SameRect">
              <a:avLst>
                <a:gd name="adj1" fmla="val 9277"/>
                <a:gd name="adj2" fmla="val 22412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79"/>
            <p:cNvSpPr txBox="1"/>
            <p:nvPr/>
          </p:nvSpPr>
          <p:spPr>
            <a:xfrm>
              <a:off x="638844" y="2429254"/>
              <a:ext cx="2314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Issuer Services</a:t>
              </a:r>
              <a:endParaRPr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86" name="Google Shape;586;p79"/>
            <p:cNvSpPr txBox="1"/>
            <p:nvPr/>
          </p:nvSpPr>
          <p:spPr>
            <a:xfrm>
              <a:off x="617850" y="3039613"/>
              <a:ext cx="2314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Credential Issuance</a:t>
              </a:r>
              <a:endParaRPr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87" name="Google Shape;587;p79"/>
            <p:cNvSpPr txBox="1"/>
            <p:nvPr/>
          </p:nvSpPr>
          <p:spPr>
            <a:xfrm>
              <a:off x="603775" y="3495763"/>
              <a:ext cx="2356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Trust Registry</a:t>
              </a:r>
              <a:endParaRPr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88" name="Google Shape;588;p79"/>
            <p:cNvSpPr txBox="1"/>
            <p:nvPr/>
          </p:nvSpPr>
          <p:spPr>
            <a:xfrm>
              <a:off x="617850" y="3962507"/>
              <a:ext cx="2356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Dispute Resolution</a:t>
              </a:r>
              <a:endParaRPr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sp>
        <p:nvSpPr>
          <p:cNvPr id="589" name="Google Shape;589;p79"/>
          <p:cNvSpPr txBox="1"/>
          <p:nvPr/>
        </p:nvSpPr>
        <p:spPr>
          <a:xfrm>
            <a:off x="338525" y="145350"/>
            <a:ext cx="7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based Verifiable credential ecosystem</a:t>
            </a:r>
            <a:endParaRPr sz="2000" b="1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grpSp>
        <p:nvGrpSpPr>
          <p:cNvPr id="590" name="Google Shape;590;p79"/>
          <p:cNvGrpSpPr/>
          <p:nvPr/>
        </p:nvGrpSpPr>
        <p:grpSpPr>
          <a:xfrm>
            <a:off x="3291525" y="1171350"/>
            <a:ext cx="2722500" cy="1491988"/>
            <a:chOff x="3282650" y="737350"/>
            <a:chExt cx="2722500" cy="1491988"/>
          </a:xfrm>
        </p:grpSpPr>
        <p:sp>
          <p:nvSpPr>
            <p:cNvPr id="591" name="Google Shape;591;p79"/>
            <p:cNvSpPr/>
            <p:nvPr/>
          </p:nvSpPr>
          <p:spPr>
            <a:xfrm>
              <a:off x="3282650" y="737350"/>
              <a:ext cx="2722500" cy="1438200"/>
            </a:xfrm>
            <a:prstGeom prst="roundRect">
              <a:avLst>
                <a:gd name="adj" fmla="val 3605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79"/>
            <p:cNvSpPr/>
            <p:nvPr/>
          </p:nvSpPr>
          <p:spPr>
            <a:xfrm>
              <a:off x="3394850" y="803500"/>
              <a:ext cx="2498100" cy="1209900"/>
            </a:xfrm>
            <a:prstGeom prst="round2SameRect">
              <a:avLst>
                <a:gd name="adj1" fmla="val 9277"/>
                <a:gd name="adj2" fmla="val 12456"/>
              </a:avLst>
            </a:prstGeom>
            <a:gradFill>
              <a:gsLst>
                <a:gs pos="0">
                  <a:srgbClr val="FFDDB2"/>
                </a:gs>
                <a:gs pos="55000">
                  <a:srgbClr val="FBFFFD"/>
                </a:gs>
                <a:gs pos="100000">
                  <a:srgbClr val="FBFFF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</a:rPr>
                <a:t>  </a:t>
              </a: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79"/>
            <p:cNvSpPr/>
            <p:nvPr/>
          </p:nvSpPr>
          <p:spPr>
            <a:xfrm>
              <a:off x="3394850" y="1282850"/>
              <a:ext cx="2498100" cy="745800"/>
            </a:xfrm>
            <a:prstGeom prst="round2SameRect">
              <a:avLst>
                <a:gd name="adj1" fmla="val 9277"/>
                <a:gd name="adj2" fmla="val 22412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79"/>
            <p:cNvSpPr txBox="1"/>
            <p:nvPr/>
          </p:nvSpPr>
          <p:spPr>
            <a:xfrm>
              <a:off x="4720325" y="1936838"/>
              <a:ext cx="1109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i="0" u="none" strike="noStrike" cap="none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Coming soon</a:t>
              </a:r>
              <a:endParaRPr sz="100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595" name="Google Shape;595;p79"/>
            <p:cNvSpPr txBox="1"/>
            <p:nvPr/>
          </p:nvSpPr>
          <p:spPr>
            <a:xfrm>
              <a:off x="3414607" y="893504"/>
              <a:ext cx="2314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Wallets</a:t>
              </a:r>
              <a:endParaRPr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pic>
          <p:nvPicPr>
            <p:cNvPr id="596" name="Google Shape;596;p79" title="Android App Icon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17802" y="1471076"/>
              <a:ext cx="431072" cy="43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7" name="Google Shape;597;p79" title="62a638ad03a870b920cbfd46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41285" y="1427747"/>
              <a:ext cx="595962" cy="5790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8" name="Google Shape;598;p79" title="iddmjo5XdQ_logos.jpe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720327" y="1501762"/>
              <a:ext cx="431100" cy="431100"/>
            </a:xfrm>
            <a:prstGeom prst="roundRect">
              <a:avLst>
                <a:gd name="adj" fmla="val 19068"/>
              </a:avLst>
            </a:prstGeom>
            <a:noFill/>
            <a:ln>
              <a:noFill/>
            </a:ln>
          </p:spPr>
        </p:pic>
        <p:pic>
          <p:nvPicPr>
            <p:cNvPr id="599" name="Google Shape;599;p7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290593" y="1496147"/>
              <a:ext cx="431101" cy="431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79"/>
            <p:cNvSpPr txBox="1"/>
            <p:nvPr/>
          </p:nvSpPr>
          <p:spPr>
            <a:xfrm>
              <a:off x="3517800" y="1890638"/>
              <a:ext cx="49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Live</a:t>
              </a:r>
              <a:endParaRPr/>
            </a:p>
          </p:txBody>
        </p:sp>
        <p:sp>
          <p:nvSpPr>
            <p:cNvPr id="601" name="Google Shape;601;p79"/>
            <p:cNvSpPr txBox="1"/>
            <p:nvPr/>
          </p:nvSpPr>
          <p:spPr>
            <a:xfrm>
              <a:off x="4085300" y="1890638"/>
              <a:ext cx="498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284181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Live</a:t>
              </a:r>
              <a:endParaRPr/>
            </a:p>
          </p:txBody>
        </p:sp>
      </p:grpSp>
      <p:sp>
        <p:nvSpPr>
          <p:cNvPr id="602" name="Google Shape;602;p79"/>
          <p:cNvSpPr txBox="1"/>
          <p:nvPr/>
        </p:nvSpPr>
        <p:spPr>
          <a:xfrm>
            <a:off x="538475" y="942738"/>
            <a:ext cx="2517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 dirty="0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25 million+ credential downloads in 3 months</a:t>
            </a:r>
            <a:endParaRPr sz="1600" b="1" i="1" dirty="0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3" name="Google Shape;603;p79"/>
          <p:cNvSpPr txBox="1"/>
          <p:nvPr/>
        </p:nvSpPr>
        <p:spPr>
          <a:xfrm>
            <a:off x="6175213" y="1009788"/>
            <a:ext cx="272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 dirty="0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125+ RPs use wallet-based VC sharing</a:t>
            </a:r>
            <a:endParaRPr sz="1600" b="1" i="1" dirty="0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cxnSp>
        <p:nvCxnSpPr>
          <p:cNvPr id="604" name="Google Shape;604;p79"/>
          <p:cNvCxnSpPr>
            <a:stCxn id="591" idx="1"/>
            <a:endCxn id="581" idx="3"/>
          </p:cNvCxnSpPr>
          <p:nvPr/>
        </p:nvCxnSpPr>
        <p:spPr>
          <a:xfrm flipH="1">
            <a:off x="1786725" y="1890450"/>
            <a:ext cx="1504800" cy="561000"/>
          </a:xfrm>
          <a:prstGeom prst="bent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605" name="Google Shape;605;p79"/>
          <p:cNvCxnSpPr>
            <a:stCxn id="591" idx="3"/>
            <a:endCxn id="575" idx="0"/>
          </p:cNvCxnSpPr>
          <p:nvPr/>
        </p:nvCxnSpPr>
        <p:spPr>
          <a:xfrm>
            <a:off x="6014025" y="1890450"/>
            <a:ext cx="1531800" cy="596100"/>
          </a:xfrm>
          <a:prstGeom prst="bentConnector2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606" name="Google Shape;606;p79"/>
          <p:cNvCxnSpPr>
            <a:stCxn id="580" idx="2"/>
            <a:endCxn id="570" idx="2"/>
          </p:cNvCxnSpPr>
          <p:nvPr/>
        </p:nvCxnSpPr>
        <p:spPr>
          <a:xfrm rot="-5400000" flipH="1">
            <a:off x="4661313" y="1937943"/>
            <a:ext cx="600" cy="5749500"/>
          </a:xfrm>
          <a:prstGeom prst="bentConnector3">
            <a:avLst>
              <a:gd name="adj1" fmla="val 396875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diamond" w="med" len="med"/>
            <a:tailEnd type="diamond" w="med" len="med"/>
          </a:ln>
        </p:spPr>
      </p:cxnSp>
      <p:pic>
        <p:nvPicPr>
          <p:cNvPr id="607" name="Google Shape;607;p79" title="New Mock 1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67275" y="2800337"/>
            <a:ext cx="2188800" cy="20771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32;p78">
            <a:extLst>
              <a:ext uri="{FF2B5EF4-FFF2-40B4-BE49-F238E27FC236}">
                <a16:creationId xmlns:a16="http://schemas.microsoft.com/office/drawing/2014/main" id="{C602686D-C4DE-7E61-6D6C-A6221646A859}"/>
              </a:ext>
            </a:extLst>
          </p:cNvPr>
          <p:cNvSpPr txBox="1"/>
          <p:nvPr/>
        </p:nvSpPr>
        <p:spPr>
          <a:xfrm>
            <a:off x="6353388" y="3531051"/>
            <a:ext cx="2356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Hospitality</a:t>
            </a:r>
            <a:endParaRPr sz="1200" b="1" dirty="0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" name="Google Shape;533;p78">
            <a:extLst>
              <a:ext uri="{FF2B5EF4-FFF2-40B4-BE49-F238E27FC236}">
                <a16:creationId xmlns:a16="http://schemas.microsoft.com/office/drawing/2014/main" id="{1A4EE296-3102-D5A4-5AA3-24F730A71490}"/>
              </a:ext>
            </a:extLst>
          </p:cNvPr>
          <p:cNvSpPr txBox="1"/>
          <p:nvPr/>
        </p:nvSpPr>
        <p:spPr>
          <a:xfrm>
            <a:off x="6367463" y="3997794"/>
            <a:ext cx="23568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Social Media</a:t>
            </a:r>
            <a:endParaRPr sz="1200" b="1" dirty="0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" name="Google Shape;521;p78">
            <a:extLst>
              <a:ext uri="{FF2B5EF4-FFF2-40B4-BE49-F238E27FC236}">
                <a16:creationId xmlns:a16="http://schemas.microsoft.com/office/drawing/2014/main" id="{D318D603-E0D7-ED5F-A22F-9B8A8AEE142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612;p80"/>
          <p:cNvGrpSpPr/>
          <p:nvPr/>
        </p:nvGrpSpPr>
        <p:grpSpPr>
          <a:xfrm>
            <a:off x="301021" y="696752"/>
            <a:ext cx="5043584" cy="4443900"/>
            <a:chOff x="319314" y="413254"/>
            <a:chExt cx="7783308" cy="4443900"/>
          </a:xfrm>
        </p:grpSpPr>
        <p:sp>
          <p:nvSpPr>
            <p:cNvPr id="613" name="Google Shape;613;p80"/>
            <p:cNvSpPr/>
            <p:nvPr/>
          </p:nvSpPr>
          <p:spPr>
            <a:xfrm>
              <a:off x="319314" y="413254"/>
              <a:ext cx="7783200" cy="4443900"/>
            </a:xfrm>
            <a:prstGeom prst="triangle">
              <a:avLst>
                <a:gd name="adj" fmla="val 57679"/>
              </a:avLst>
            </a:prstGeom>
            <a:solidFill>
              <a:srgbClr val="FDF3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EED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0"/>
            <p:cNvSpPr/>
            <p:nvPr/>
          </p:nvSpPr>
          <p:spPr>
            <a:xfrm>
              <a:off x="319320" y="1444902"/>
              <a:ext cx="7783200" cy="3412200"/>
            </a:xfrm>
            <a:prstGeom prst="triangle">
              <a:avLst>
                <a:gd name="adj" fmla="val 57431"/>
              </a:avLst>
            </a:prstGeom>
            <a:solidFill>
              <a:srgbClr val="FCE7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80"/>
            <p:cNvSpPr/>
            <p:nvPr/>
          </p:nvSpPr>
          <p:spPr>
            <a:xfrm>
              <a:off x="319320" y="2421752"/>
              <a:ext cx="7783200" cy="2433900"/>
            </a:xfrm>
            <a:prstGeom prst="triangle">
              <a:avLst>
                <a:gd name="adj" fmla="val 57949"/>
              </a:avLst>
            </a:prstGeom>
            <a:solidFill>
              <a:srgbClr val="FADA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80"/>
            <p:cNvSpPr/>
            <p:nvPr/>
          </p:nvSpPr>
          <p:spPr>
            <a:xfrm>
              <a:off x="410022" y="3369076"/>
              <a:ext cx="7692600" cy="1487700"/>
            </a:xfrm>
            <a:prstGeom prst="triangle">
              <a:avLst>
                <a:gd name="adj" fmla="val 57241"/>
              </a:avLst>
            </a:prstGeom>
            <a:solidFill>
              <a:srgbClr val="F9CF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p80"/>
          <p:cNvSpPr/>
          <p:nvPr/>
        </p:nvSpPr>
        <p:spPr>
          <a:xfrm>
            <a:off x="3200625" y="679447"/>
            <a:ext cx="5943300" cy="10263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80"/>
          <p:cNvSpPr txBox="1"/>
          <p:nvPr/>
        </p:nvSpPr>
        <p:spPr>
          <a:xfrm>
            <a:off x="301025" y="3750125"/>
            <a:ext cx="2313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Verifiable Credentials</a:t>
            </a:r>
            <a:endParaRPr sz="2000" b="1" i="0" u="none" strike="noStrike" cap="none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619" name="Google Shape;619;p80"/>
          <p:cNvSpPr/>
          <p:nvPr/>
        </p:nvSpPr>
        <p:spPr>
          <a:xfrm>
            <a:off x="3200625" y="1705822"/>
            <a:ext cx="5943300" cy="976800"/>
          </a:xfrm>
          <a:prstGeom prst="rect">
            <a:avLst/>
          </a:prstGeom>
          <a:solidFill>
            <a:srgbClr val="FCE7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80"/>
          <p:cNvSpPr/>
          <p:nvPr/>
        </p:nvSpPr>
        <p:spPr>
          <a:xfrm>
            <a:off x="3200625" y="2682672"/>
            <a:ext cx="5943300" cy="947400"/>
          </a:xfrm>
          <a:prstGeom prst="rect">
            <a:avLst/>
          </a:prstGeom>
          <a:solidFill>
            <a:srgbClr val="FADA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0"/>
          <p:cNvSpPr/>
          <p:nvPr/>
        </p:nvSpPr>
        <p:spPr>
          <a:xfrm>
            <a:off x="4812990" y="2381741"/>
            <a:ext cx="4272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0"/>
          <p:cNvSpPr/>
          <p:nvPr/>
        </p:nvSpPr>
        <p:spPr>
          <a:xfrm>
            <a:off x="3200625" y="3629997"/>
            <a:ext cx="5943300" cy="1483800"/>
          </a:xfrm>
          <a:prstGeom prst="rect">
            <a:avLst/>
          </a:prstGeom>
          <a:solidFill>
            <a:srgbClr val="F9CF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80"/>
          <p:cNvSpPr txBox="1"/>
          <p:nvPr/>
        </p:nvSpPr>
        <p:spPr>
          <a:xfrm>
            <a:off x="301025" y="90400"/>
            <a:ext cx="2517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is ready for interoperability with Aadhaar’s Verifiable Credentials</a:t>
            </a:r>
            <a:endParaRPr sz="1600" b="1" i="1" u="none" strike="noStrike" cap="none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4" name="Google Shape;624;p80"/>
          <p:cNvSpPr txBox="1"/>
          <p:nvPr/>
        </p:nvSpPr>
        <p:spPr>
          <a:xfrm>
            <a:off x="3912124" y="958171"/>
            <a:ext cx="44691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Empower </a:t>
            </a:r>
            <a:r>
              <a:rPr lang="en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users </a:t>
            </a:r>
            <a:br>
              <a:rPr lang="en" sz="105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05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VC allows </a:t>
            </a:r>
            <a:r>
              <a:rPr lang="en" sz="1000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</a:t>
            </a:r>
            <a:r>
              <a:rPr lang="en" sz="100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elective disclosures of PII Data through SD-JWT, mDOC data formats - ensuring privacy and portability.</a:t>
            </a:r>
            <a:endParaRPr sz="1000" b="0" i="0" u="none" strike="noStrike" cap="none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5" name="Google Shape;625;p80"/>
          <p:cNvSpPr txBox="1"/>
          <p:nvPr/>
        </p:nvSpPr>
        <p:spPr>
          <a:xfrm>
            <a:off x="3912123" y="1865780"/>
            <a:ext cx="5043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Wallet Ecosystem</a:t>
            </a:r>
            <a:br>
              <a:rPr lang="en" sz="1050" b="1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000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VC is interoperable with wallet which are compliant with Aadhaar guidelines</a:t>
            </a:r>
            <a:endParaRPr sz="1000" b="0" i="0" u="none" strike="noStrike" cap="none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6" name="Google Shape;626;p80"/>
          <p:cNvSpPr txBox="1"/>
          <p:nvPr/>
        </p:nvSpPr>
        <p:spPr>
          <a:xfrm>
            <a:off x="3912124" y="2876677"/>
            <a:ext cx="4727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International Standards for Issuance &amp; Presentation</a:t>
            </a:r>
            <a:endParaRPr sz="1400" b="0" i="0" u="none" strike="noStrike" cap="non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VC prescribes the u</a:t>
            </a:r>
            <a:r>
              <a:rPr lang="en" sz="100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 of international standards such as OPENID4VCI, OPENID4VP &amp; W3C DC API (WIP) for Exchange of Aadhaar Credentials</a:t>
            </a:r>
            <a:endParaRPr sz="1000" b="0" i="0" u="none" strike="noStrike" cap="none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7" name="Google Shape;627;p80"/>
          <p:cNvSpPr txBox="1"/>
          <p:nvPr/>
        </p:nvSpPr>
        <p:spPr>
          <a:xfrm>
            <a:off x="3912124" y="3887002"/>
            <a:ext cx="446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Zero Knowledge Proof (Under Development)</a:t>
            </a:r>
            <a:br>
              <a:rPr lang="en" sz="105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00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BBS+ &amp; Longfellow based algorithms for age assurance use case </a:t>
            </a:r>
            <a:endParaRPr sz="1000" b="0" i="0" u="none" strike="noStrike" cap="none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8" name="Google Shape;628;p80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80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80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31" name="Google Shape;631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22352" y="1062920"/>
            <a:ext cx="413573" cy="413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4587" y="1986309"/>
            <a:ext cx="509107" cy="50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8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6248" y="2988309"/>
            <a:ext cx="505779" cy="505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8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27824" y="3975375"/>
            <a:ext cx="402616" cy="402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1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81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2" name="Google Shape;64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81"/>
          <p:cNvSpPr txBox="1"/>
          <p:nvPr/>
        </p:nvSpPr>
        <p:spPr>
          <a:xfrm>
            <a:off x="228600" y="228600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latin typeface="Noto Serif Devanagari"/>
                <a:ea typeface="Noto Serif Devanagari"/>
                <a:cs typeface="Noto Serif Devanagari"/>
                <a:sym typeface="Noto Serif Devanagari"/>
              </a:rPr>
              <a:t>Catering to diverse use cases</a:t>
            </a:r>
            <a:endParaRPr sz="2000" b="1"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644" name="Google Shape;644;p81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5" name="Google Shape;645;p81"/>
          <p:cNvSpPr/>
          <p:nvPr/>
        </p:nvSpPr>
        <p:spPr>
          <a:xfrm flipH="1">
            <a:off x="6563700" y="3026238"/>
            <a:ext cx="1751700" cy="14382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81"/>
          <p:cNvSpPr/>
          <p:nvPr/>
        </p:nvSpPr>
        <p:spPr>
          <a:xfrm>
            <a:off x="6632850" y="3806088"/>
            <a:ext cx="1613400" cy="5799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81"/>
          <p:cNvSpPr txBox="1"/>
          <p:nvPr/>
        </p:nvSpPr>
        <p:spPr>
          <a:xfrm>
            <a:off x="6698100" y="3997088"/>
            <a:ext cx="1482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Digital Wallet</a:t>
            </a:r>
            <a:endParaRPr sz="12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8" name="Google Shape;648;p81"/>
          <p:cNvSpPr/>
          <p:nvPr/>
        </p:nvSpPr>
        <p:spPr>
          <a:xfrm flipH="1">
            <a:off x="2740300" y="3026238"/>
            <a:ext cx="1751700" cy="14382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81"/>
          <p:cNvSpPr/>
          <p:nvPr/>
        </p:nvSpPr>
        <p:spPr>
          <a:xfrm>
            <a:off x="2809450" y="3806088"/>
            <a:ext cx="1613400" cy="5799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81"/>
          <p:cNvSpPr txBox="1"/>
          <p:nvPr/>
        </p:nvSpPr>
        <p:spPr>
          <a:xfrm>
            <a:off x="2874700" y="3904688"/>
            <a:ext cx="14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Event Entry Management</a:t>
            </a:r>
            <a:endParaRPr sz="12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1" name="Google Shape;651;p81"/>
          <p:cNvSpPr/>
          <p:nvPr/>
        </p:nvSpPr>
        <p:spPr>
          <a:xfrm flipH="1">
            <a:off x="4652000" y="3026238"/>
            <a:ext cx="1751700" cy="14382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81"/>
          <p:cNvSpPr/>
          <p:nvPr/>
        </p:nvSpPr>
        <p:spPr>
          <a:xfrm>
            <a:off x="4721150" y="3806088"/>
            <a:ext cx="1613400" cy="5799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81"/>
          <p:cNvSpPr txBox="1"/>
          <p:nvPr/>
        </p:nvSpPr>
        <p:spPr>
          <a:xfrm>
            <a:off x="4786400" y="3997088"/>
            <a:ext cx="1482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Estate</a:t>
            </a:r>
            <a:endParaRPr sz="12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4" name="Google Shape;654;p81"/>
          <p:cNvSpPr/>
          <p:nvPr/>
        </p:nvSpPr>
        <p:spPr>
          <a:xfrm flipH="1">
            <a:off x="828600" y="3026238"/>
            <a:ext cx="1751700" cy="14382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81"/>
          <p:cNvSpPr/>
          <p:nvPr/>
        </p:nvSpPr>
        <p:spPr>
          <a:xfrm>
            <a:off x="897750" y="3806088"/>
            <a:ext cx="1613400" cy="5799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81"/>
          <p:cNvSpPr txBox="1"/>
          <p:nvPr/>
        </p:nvSpPr>
        <p:spPr>
          <a:xfrm>
            <a:off x="963000" y="3904688"/>
            <a:ext cx="14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Sector &amp; Governance</a:t>
            </a:r>
            <a:endParaRPr sz="12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657" name="Google Shape;657;p81"/>
          <p:cNvGrpSpPr/>
          <p:nvPr/>
        </p:nvGrpSpPr>
        <p:grpSpPr>
          <a:xfrm>
            <a:off x="6563700" y="1349838"/>
            <a:ext cx="1751700" cy="1438200"/>
            <a:chOff x="6248075" y="1464350"/>
            <a:chExt cx="1751700" cy="1438200"/>
          </a:xfrm>
        </p:grpSpPr>
        <p:sp>
          <p:nvSpPr>
            <p:cNvPr id="658" name="Google Shape;658;p81"/>
            <p:cNvSpPr/>
            <p:nvPr/>
          </p:nvSpPr>
          <p:spPr>
            <a:xfrm flipH="1">
              <a:off x="6248075" y="1464350"/>
              <a:ext cx="17517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81"/>
            <p:cNvSpPr/>
            <p:nvPr/>
          </p:nvSpPr>
          <p:spPr>
            <a:xfrm>
              <a:off x="6317225" y="2244200"/>
              <a:ext cx="16134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81"/>
            <p:cNvSpPr txBox="1"/>
            <p:nvPr/>
          </p:nvSpPr>
          <p:spPr>
            <a:xfrm>
              <a:off x="6382475" y="2435200"/>
              <a:ext cx="14829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Social Media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grpSp>
        <p:nvGrpSpPr>
          <p:cNvPr id="661" name="Google Shape;661;p81"/>
          <p:cNvGrpSpPr/>
          <p:nvPr/>
        </p:nvGrpSpPr>
        <p:grpSpPr>
          <a:xfrm>
            <a:off x="2740300" y="1349838"/>
            <a:ext cx="1751700" cy="1438200"/>
            <a:chOff x="2379875" y="1464350"/>
            <a:chExt cx="1751700" cy="1438200"/>
          </a:xfrm>
        </p:grpSpPr>
        <p:sp>
          <p:nvSpPr>
            <p:cNvPr id="662" name="Google Shape;662;p81"/>
            <p:cNvSpPr/>
            <p:nvPr/>
          </p:nvSpPr>
          <p:spPr>
            <a:xfrm flipH="1">
              <a:off x="2379875" y="1464350"/>
              <a:ext cx="17517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81"/>
            <p:cNvSpPr/>
            <p:nvPr/>
          </p:nvSpPr>
          <p:spPr>
            <a:xfrm>
              <a:off x="2449025" y="2244200"/>
              <a:ext cx="16134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81"/>
            <p:cNvSpPr txBox="1"/>
            <p:nvPr/>
          </p:nvSpPr>
          <p:spPr>
            <a:xfrm>
              <a:off x="2514275" y="2250400"/>
              <a:ext cx="1482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Employees &amp; Gig worker ID Verification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pic>
          <p:nvPicPr>
            <p:cNvPr id="665" name="Google Shape;665;p8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965763" y="1527253"/>
              <a:ext cx="579901" cy="579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6" name="Google Shape;666;p81"/>
          <p:cNvSpPr/>
          <p:nvPr/>
        </p:nvSpPr>
        <p:spPr>
          <a:xfrm flipH="1">
            <a:off x="4652000" y="1349838"/>
            <a:ext cx="1751700" cy="1438200"/>
          </a:xfrm>
          <a:prstGeom prst="roundRect">
            <a:avLst>
              <a:gd name="adj" fmla="val 4139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1"/>
          <p:cNvSpPr/>
          <p:nvPr/>
        </p:nvSpPr>
        <p:spPr>
          <a:xfrm>
            <a:off x="4721150" y="2129688"/>
            <a:ext cx="1613400" cy="5799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1"/>
          <p:cNvSpPr txBox="1"/>
          <p:nvPr/>
        </p:nvSpPr>
        <p:spPr>
          <a:xfrm>
            <a:off x="4786400" y="2320688"/>
            <a:ext cx="1482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Hospitality</a:t>
            </a:r>
            <a:endParaRPr sz="12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69" name="Google Shape;669;p8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42694" y="1462244"/>
            <a:ext cx="370330" cy="48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8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80389" y="3071842"/>
            <a:ext cx="579901" cy="579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1" name="Google Shape;671;p81"/>
          <p:cNvGrpSpPr/>
          <p:nvPr/>
        </p:nvGrpSpPr>
        <p:grpSpPr>
          <a:xfrm>
            <a:off x="828600" y="1349838"/>
            <a:ext cx="1751700" cy="1438200"/>
            <a:chOff x="512975" y="1464350"/>
            <a:chExt cx="1751700" cy="1438200"/>
          </a:xfrm>
        </p:grpSpPr>
        <p:sp>
          <p:nvSpPr>
            <p:cNvPr id="672" name="Google Shape;672;p81"/>
            <p:cNvSpPr/>
            <p:nvPr/>
          </p:nvSpPr>
          <p:spPr>
            <a:xfrm flipH="1">
              <a:off x="512975" y="1464350"/>
              <a:ext cx="17517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81"/>
            <p:cNvSpPr/>
            <p:nvPr/>
          </p:nvSpPr>
          <p:spPr>
            <a:xfrm>
              <a:off x="582125" y="2244200"/>
              <a:ext cx="16134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74" name="Google Shape;674;p8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125698" y="1623581"/>
              <a:ext cx="526255" cy="3872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5" name="Google Shape;675;p81"/>
            <p:cNvSpPr txBox="1"/>
            <p:nvPr/>
          </p:nvSpPr>
          <p:spPr>
            <a:xfrm>
              <a:off x="647375" y="2435200"/>
              <a:ext cx="14829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Fintech/BFSI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</p:grpSp>
      <p:pic>
        <p:nvPicPr>
          <p:cNvPr id="676" name="Google Shape;676;p81" title="Picture 1.png-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02325" y="1447563"/>
            <a:ext cx="518350" cy="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1" title="Picture 1.png-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56975" y="3102625"/>
            <a:ext cx="518350" cy="5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81" title="Picture 1.png-3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93712" y="3102625"/>
            <a:ext cx="518350" cy="5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81" title="Picture 1.png-4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68675" y="3094172"/>
            <a:ext cx="518350" cy="5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82" title="Screenshot 2025-09-13 at 2.24.10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951" y="2329508"/>
            <a:ext cx="8522102" cy="2417601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82"/>
          <p:cNvSpPr txBox="1">
            <a:spLocks noGrp="1"/>
          </p:cNvSpPr>
          <p:nvPr>
            <p:ph type="title" idx="4294967295"/>
          </p:nvPr>
        </p:nvSpPr>
        <p:spPr>
          <a:xfrm>
            <a:off x="536679" y="1540150"/>
            <a:ext cx="538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latin typeface="IBM Plex Sans"/>
                <a:ea typeface="IBM Plex Sans"/>
                <a:cs typeface="IBM Plex Sans"/>
                <a:sym typeface="IBM Plex Sans"/>
              </a:rPr>
              <a:t>It replaces the hassle and safety concerns of your aadhaar being copied and kept.  </a:t>
            </a:r>
            <a:endParaRPr sz="152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6" name="Google Shape;686;p82"/>
          <p:cNvSpPr txBox="1"/>
          <p:nvPr/>
        </p:nvSpPr>
        <p:spPr>
          <a:xfrm>
            <a:off x="536676" y="1202375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a hotel check-in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82"/>
          <p:cNvSpPr txBox="1">
            <a:spLocks noGrp="1"/>
          </p:cNvSpPr>
          <p:nvPr>
            <p:ph type="ctrTitle"/>
          </p:nvPr>
        </p:nvSpPr>
        <p:spPr>
          <a:xfrm>
            <a:off x="540000" y="699525"/>
            <a:ext cx="25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b="1">
                <a:latin typeface="Georgia"/>
                <a:ea typeface="Georgia"/>
                <a:cs typeface="Georgia"/>
                <a:sym typeface="Georgia"/>
              </a:rPr>
              <a:t>Use Case 01</a:t>
            </a:r>
            <a:endParaRPr sz="2420"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42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8" name="Google Shape;688;p82"/>
          <p:cNvSpPr txBox="1"/>
          <p:nvPr/>
        </p:nvSpPr>
        <p:spPr>
          <a:xfrm>
            <a:off x="540000" y="439403"/>
            <a:ext cx="1428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Scan QR</a:t>
            </a:r>
            <a:endParaRPr sz="1020" b="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9" name="Google Shape;689;p82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82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82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92" name="Google Shape;69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83" title="Screenshot 2025-09-13 at 2.25.54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101" y="2573606"/>
            <a:ext cx="8952899" cy="199339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83"/>
          <p:cNvSpPr txBox="1">
            <a:spLocks noGrp="1"/>
          </p:cNvSpPr>
          <p:nvPr>
            <p:ph type="title" idx="4294967295"/>
          </p:nvPr>
        </p:nvSpPr>
        <p:spPr>
          <a:xfrm>
            <a:off x="540000" y="1540150"/>
            <a:ext cx="587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IBM Plex Sans"/>
                <a:ea typeface="IBM Plex Sans"/>
                <a:cs typeface="IBM Plex Sans"/>
                <a:sym typeface="IBM Plex Sans"/>
              </a:rPr>
              <a:t>Verified QR access: only authenticated visitors can enter, eliminating fake IDs and spoofed codes for safer societies.</a:t>
            </a:r>
            <a:endParaRPr sz="142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9" name="Google Shape;699;p83"/>
          <p:cNvSpPr txBox="1"/>
          <p:nvPr/>
        </p:nvSpPr>
        <p:spPr>
          <a:xfrm>
            <a:off x="540001" y="1202375"/>
            <a:ext cx="41814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a security gates in societies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83"/>
          <p:cNvSpPr txBox="1">
            <a:spLocks noGrp="1"/>
          </p:cNvSpPr>
          <p:nvPr>
            <p:ph type="ctrTitle"/>
          </p:nvPr>
        </p:nvSpPr>
        <p:spPr>
          <a:xfrm>
            <a:off x="540000" y="699525"/>
            <a:ext cx="25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b="1">
                <a:latin typeface="Georgia"/>
                <a:ea typeface="Georgia"/>
                <a:cs typeface="Georgia"/>
                <a:sym typeface="Georgia"/>
              </a:rPr>
              <a:t>Use Case 02</a:t>
            </a:r>
            <a:endParaRPr sz="2420"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42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1" name="Google Shape;701;p83"/>
          <p:cNvSpPr txBox="1"/>
          <p:nvPr/>
        </p:nvSpPr>
        <p:spPr>
          <a:xfrm>
            <a:off x="540000" y="439403"/>
            <a:ext cx="1428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Scan QR</a:t>
            </a:r>
            <a:endParaRPr sz="1020" b="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2" name="Google Shape;702;p83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83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83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705" name="Google Shape;70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4"/>
          <p:cNvSpPr txBox="1">
            <a:spLocks noGrp="1"/>
          </p:cNvSpPr>
          <p:nvPr>
            <p:ph type="title" idx="4294967295"/>
          </p:nvPr>
        </p:nvSpPr>
        <p:spPr>
          <a:xfrm>
            <a:off x="540000" y="1540175"/>
            <a:ext cx="538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IBM Plex Sans"/>
                <a:ea typeface="IBM Plex Sans"/>
                <a:cs typeface="IBM Plex Sans"/>
                <a:sym typeface="IBM Plex Sans"/>
              </a:rPr>
              <a:t>Zero knowledge proof at concert entries- </a:t>
            </a:r>
            <a:endParaRPr sz="142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IBM Plex Sans"/>
                <a:ea typeface="IBM Plex Sans"/>
                <a:cs typeface="IBM Plex Sans"/>
                <a:sym typeface="IBM Plex Sans"/>
              </a:rPr>
              <a:t>The security doesn’t even need to know your name.</a:t>
            </a:r>
            <a:endParaRPr sz="142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1" name="Google Shape;711;p84"/>
          <p:cNvSpPr txBox="1"/>
          <p:nvPr/>
        </p:nvSpPr>
        <p:spPr>
          <a:xfrm>
            <a:off x="540001" y="1202401"/>
            <a:ext cx="41814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a security gates in concerts &amp; events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84" title="Screenshot 2025-09-13 at 4.10.00 PM.png"/>
          <p:cNvPicPr preferRelativeResize="0"/>
          <p:nvPr/>
        </p:nvPicPr>
        <p:blipFill rotWithShape="1">
          <a:blip r:embed="rId3">
            <a:alphaModFix/>
          </a:blip>
          <a:srcRect t="7809"/>
          <a:stretch/>
        </p:blipFill>
        <p:spPr>
          <a:xfrm>
            <a:off x="1" y="2313597"/>
            <a:ext cx="9144003" cy="24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4"/>
          <p:cNvSpPr txBox="1">
            <a:spLocks noGrp="1"/>
          </p:cNvSpPr>
          <p:nvPr>
            <p:ph type="ctrTitle"/>
          </p:nvPr>
        </p:nvSpPr>
        <p:spPr>
          <a:xfrm>
            <a:off x="540000" y="699525"/>
            <a:ext cx="25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b="1">
                <a:latin typeface="Georgia"/>
                <a:ea typeface="Georgia"/>
                <a:cs typeface="Georgia"/>
                <a:sym typeface="Georgia"/>
              </a:rPr>
              <a:t>Use Case 03</a:t>
            </a:r>
            <a:endParaRPr sz="2420"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42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4" name="Google Shape;714;p84"/>
          <p:cNvSpPr txBox="1"/>
          <p:nvPr/>
        </p:nvSpPr>
        <p:spPr>
          <a:xfrm>
            <a:off x="540000" y="439403"/>
            <a:ext cx="1428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Bluetooth/NFC</a:t>
            </a:r>
            <a:endParaRPr sz="1020" b="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5" name="Google Shape;715;p84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84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84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718" name="Google Shape;71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5"/>
          <p:cNvSpPr txBox="1">
            <a:spLocks noGrp="1"/>
          </p:cNvSpPr>
          <p:nvPr>
            <p:ph type="title" idx="4294967295"/>
          </p:nvPr>
        </p:nvSpPr>
        <p:spPr>
          <a:xfrm>
            <a:off x="540000" y="1540175"/>
            <a:ext cx="4446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099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20">
                <a:latin typeface="IBM Plex Sans"/>
                <a:ea typeface="IBM Plex Sans"/>
                <a:cs typeface="IBM Plex Sans"/>
                <a:sym typeface="IBM Plex Sans"/>
              </a:rPr>
              <a:t>Verify your social media profile with Aadhaar for a trusted identity badge.</a:t>
            </a:r>
            <a:endParaRPr sz="142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42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4" name="Google Shape;724;p85"/>
          <p:cNvSpPr txBox="1"/>
          <p:nvPr/>
        </p:nvSpPr>
        <p:spPr>
          <a:xfrm>
            <a:off x="540001" y="1202401"/>
            <a:ext cx="41814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Social Media Profile Verification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85"/>
          <p:cNvSpPr txBox="1">
            <a:spLocks noGrp="1"/>
          </p:cNvSpPr>
          <p:nvPr>
            <p:ph type="ctrTitle"/>
          </p:nvPr>
        </p:nvSpPr>
        <p:spPr>
          <a:xfrm>
            <a:off x="540000" y="699525"/>
            <a:ext cx="25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b="1">
                <a:latin typeface="Georgia"/>
                <a:ea typeface="Georgia"/>
                <a:cs typeface="Georgia"/>
                <a:sym typeface="Georgia"/>
              </a:rPr>
              <a:t>Use Case 04</a:t>
            </a:r>
            <a:endParaRPr sz="2420"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42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6" name="Google Shape;726;p85"/>
          <p:cNvSpPr txBox="1"/>
          <p:nvPr/>
        </p:nvSpPr>
        <p:spPr>
          <a:xfrm>
            <a:off x="540000" y="439403"/>
            <a:ext cx="1428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 to App Intent</a:t>
            </a:r>
            <a:endParaRPr sz="1020" b="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7" name="Google Shape;727;p85"/>
          <p:cNvGrpSpPr/>
          <p:nvPr/>
        </p:nvGrpSpPr>
        <p:grpSpPr>
          <a:xfrm>
            <a:off x="540021" y="2308741"/>
            <a:ext cx="6812610" cy="2551441"/>
            <a:chOff x="540000" y="2308649"/>
            <a:chExt cx="6143575" cy="2300875"/>
          </a:xfrm>
        </p:grpSpPr>
        <p:grpSp>
          <p:nvGrpSpPr>
            <p:cNvPr id="728" name="Google Shape;728;p85"/>
            <p:cNvGrpSpPr/>
            <p:nvPr/>
          </p:nvGrpSpPr>
          <p:grpSpPr>
            <a:xfrm>
              <a:off x="540000" y="2308649"/>
              <a:ext cx="6143575" cy="2300875"/>
              <a:chOff x="540000" y="2308649"/>
              <a:chExt cx="6143575" cy="2300875"/>
            </a:xfrm>
          </p:grpSpPr>
          <p:pic>
            <p:nvPicPr>
              <p:cNvPr id="729" name="Google Shape;729;p85" title="Gemini_Generated_Image_9ob8m49ob8m49ob8 (2)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40000" y="2308649"/>
                <a:ext cx="6143575" cy="2300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0" name="Google Shape;730;p8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737350" y="3304628"/>
                <a:ext cx="405475" cy="2693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31" name="Google Shape;731;p8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62100" y="2994475"/>
              <a:ext cx="197600" cy="1312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2" name="Google Shape;732;p85"/>
          <p:cNvSpPr txBox="1">
            <a:spLocks noGrp="1"/>
          </p:cNvSpPr>
          <p:nvPr>
            <p:ph type="title" idx="4294967295"/>
          </p:nvPr>
        </p:nvSpPr>
        <p:spPr>
          <a:xfrm>
            <a:off x="5736565" y="4294953"/>
            <a:ext cx="2043600" cy="48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1375" tIns="101375" rIns="101375" bIns="101375" anchor="t" anchorCtr="0">
            <a:noAutofit/>
          </a:bodyPr>
          <a:lstStyle/>
          <a:p>
            <a:pPr marL="0" marR="422466" lvl="0" indent="0" algn="l" rtl="0">
              <a:lnSpc>
                <a:spcPct val="115000"/>
              </a:lnSpc>
              <a:spcBef>
                <a:spcPts val="1331"/>
              </a:spcBef>
              <a:spcAft>
                <a:spcPts val="0"/>
              </a:spcAft>
              <a:buSzPts val="1220"/>
              <a:buNone/>
            </a:pPr>
            <a:r>
              <a:rPr lang="en" sz="798" b="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Identity confirmed with verifier badge on Social Media</a:t>
            </a:r>
            <a:endParaRPr sz="909"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331"/>
              </a:spcBef>
              <a:spcAft>
                <a:spcPts val="0"/>
              </a:spcAft>
              <a:buSzPts val="1098"/>
              <a:buNone/>
            </a:pPr>
            <a:endParaRPr sz="798" b="1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85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85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85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736" name="Google Shape;736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6"/>
          <p:cNvSpPr txBox="1">
            <a:spLocks noGrp="1"/>
          </p:cNvSpPr>
          <p:nvPr>
            <p:ph type="title" idx="4294967295"/>
          </p:nvPr>
        </p:nvSpPr>
        <p:spPr>
          <a:xfrm>
            <a:off x="540000" y="1540175"/>
            <a:ext cx="501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IBM Plex Sans"/>
                <a:ea typeface="IBM Plex Sans"/>
                <a:cs typeface="IBM Plex Sans"/>
                <a:sym typeface="IBM Plex Sans"/>
              </a:rPr>
              <a:t>Scan the QR code in physical Aadhaar card and know whether it is a real card. </a:t>
            </a:r>
            <a:endParaRPr sz="142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2" name="Google Shape;742;p86"/>
          <p:cNvSpPr txBox="1"/>
          <p:nvPr/>
        </p:nvSpPr>
        <p:spPr>
          <a:xfrm>
            <a:off x="540001" y="1202400"/>
            <a:ext cx="41814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20" b="1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Verify against Fake Aadhaar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86"/>
          <p:cNvSpPr txBox="1">
            <a:spLocks noGrp="1"/>
          </p:cNvSpPr>
          <p:nvPr>
            <p:ph type="ctrTitle"/>
          </p:nvPr>
        </p:nvSpPr>
        <p:spPr>
          <a:xfrm>
            <a:off x="540000" y="699525"/>
            <a:ext cx="2509200" cy="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b="1">
                <a:latin typeface="Georgia"/>
                <a:ea typeface="Georgia"/>
                <a:cs typeface="Georgia"/>
                <a:sym typeface="Georgia"/>
              </a:rPr>
              <a:t>Use Case 05</a:t>
            </a:r>
            <a:endParaRPr sz="2420"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420"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44" name="Google Shape;744;p86"/>
          <p:cNvSpPr txBox="1"/>
          <p:nvPr/>
        </p:nvSpPr>
        <p:spPr>
          <a:xfrm>
            <a:off x="540000" y="439403"/>
            <a:ext cx="14280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2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Show Aadhaar Card</a:t>
            </a:r>
            <a:endParaRPr sz="1020" b="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45" name="Google Shape;745;p86"/>
          <p:cNvGrpSpPr/>
          <p:nvPr/>
        </p:nvGrpSpPr>
        <p:grpSpPr>
          <a:xfrm>
            <a:off x="298130" y="2316939"/>
            <a:ext cx="8261769" cy="2282293"/>
            <a:chOff x="298129" y="2430338"/>
            <a:chExt cx="8261769" cy="2282293"/>
          </a:xfrm>
        </p:grpSpPr>
        <p:grpSp>
          <p:nvGrpSpPr>
            <p:cNvPr id="746" name="Google Shape;746;p86"/>
            <p:cNvGrpSpPr/>
            <p:nvPr/>
          </p:nvGrpSpPr>
          <p:grpSpPr>
            <a:xfrm>
              <a:off x="298129" y="2430338"/>
              <a:ext cx="6185894" cy="2282293"/>
              <a:chOff x="540041" y="2186748"/>
              <a:chExt cx="6846590" cy="2526057"/>
            </a:xfrm>
          </p:grpSpPr>
          <p:grpSp>
            <p:nvGrpSpPr>
              <p:cNvPr id="747" name="Google Shape;747;p86"/>
              <p:cNvGrpSpPr/>
              <p:nvPr/>
            </p:nvGrpSpPr>
            <p:grpSpPr>
              <a:xfrm>
                <a:off x="540041" y="2186748"/>
                <a:ext cx="6846590" cy="2526057"/>
                <a:chOff x="532237" y="2019150"/>
                <a:chExt cx="8079525" cy="2980950"/>
              </a:xfrm>
            </p:grpSpPr>
            <p:pic>
              <p:nvPicPr>
                <p:cNvPr id="748" name="Google Shape;748;p86" title="Gemini_Generated_Image_ojb2soojb2soojb2.png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l="4808" t="34581" r="4636" b="7464"/>
                <a:stretch/>
              </p:blipFill>
              <p:spPr>
                <a:xfrm>
                  <a:off x="532237" y="2019150"/>
                  <a:ext cx="8079525" cy="29809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49" name="Google Shape;749;p86" title="unnamed (4).jp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-1570" t="23363" r="1570" b="15905"/>
                <a:stretch/>
              </p:blipFill>
              <p:spPr>
                <a:xfrm>
                  <a:off x="1096875" y="2297125"/>
                  <a:ext cx="1745925" cy="22158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750" name="Google Shape;750;p86"/>
              <p:cNvSpPr/>
              <p:nvPr/>
            </p:nvSpPr>
            <p:spPr>
              <a:xfrm>
                <a:off x="3586700" y="3551825"/>
                <a:ext cx="811200" cy="125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82600" tIns="82600" rIns="82600" bIns="826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6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1" name="Google Shape;751;p86"/>
            <p:cNvGrpSpPr/>
            <p:nvPr/>
          </p:nvGrpSpPr>
          <p:grpSpPr>
            <a:xfrm>
              <a:off x="4464375" y="2430343"/>
              <a:ext cx="4095523" cy="2247232"/>
              <a:chOff x="4464375" y="2430343"/>
              <a:chExt cx="4095523" cy="2247232"/>
            </a:xfrm>
          </p:grpSpPr>
          <p:pic>
            <p:nvPicPr>
              <p:cNvPr id="752" name="Google Shape;752;p86" title="Gemini_Generated_Image_ojb2soojb2soojb2.png"/>
              <p:cNvPicPr preferRelativeResize="0"/>
              <p:nvPr/>
            </p:nvPicPr>
            <p:blipFill rotWithShape="1">
              <a:blip r:embed="rId3">
                <a:alphaModFix/>
              </a:blip>
              <a:srcRect l="8481" t="39652" r="64722" b="16988"/>
              <a:stretch/>
            </p:blipFill>
            <p:spPr>
              <a:xfrm>
                <a:off x="4464375" y="2634110"/>
                <a:ext cx="1879353" cy="17531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3" name="Google Shape;753;p86" title="Gemini_Generated_Image_ojb2soojb2soojb2.png"/>
              <p:cNvPicPr preferRelativeResize="0"/>
              <p:nvPr/>
            </p:nvPicPr>
            <p:blipFill rotWithShape="1">
              <a:blip r:embed="rId3">
                <a:alphaModFix/>
              </a:blip>
              <a:srcRect l="65570" t="34579" r="4638" b="15923"/>
              <a:stretch/>
            </p:blipFill>
            <p:spPr>
              <a:xfrm>
                <a:off x="6524794" y="2430343"/>
                <a:ext cx="2035104" cy="19493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4" name="Google Shape;754;p86"/>
              <p:cNvSpPr/>
              <p:nvPr/>
            </p:nvSpPr>
            <p:spPr>
              <a:xfrm>
                <a:off x="6050149" y="4417475"/>
                <a:ext cx="1783500" cy="2601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Verified Identity                    </a:t>
                </a:r>
                <a:endParaRPr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endParaRPr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55" name="Google Shape;755;p86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86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86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758" name="Google Shape;758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99"/>
          <p:cNvSpPr txBox="1"/>
          <p:nvPr/>
        </p:nvSpPr>
        <p:spPr>
          <a:xfrm>
            <a:off x="228599" y="452134"/>
            <a:ext cx="2722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2000" b="1" dirty="0">
                <a:latin typeface="Noto Serif Devanagari"/>
                <a:cs typeface="Noto Serif Devanagari"/>
                <a:sym typeface="Instrument Sans"/>
              </a:rPr>
              <a:t>Some Key OVSEs</a:t>
            </a:r>
            <a:endParaRPr sz="2000" b="1" dirty="0">
              <a:latin typeface="Noto Serif Devanagari"/>
              <a:cs typeface="Noto Serif Devanagari"/>
              <a:sym typeface="Instrument Sans"/>
            </a:endParaRPr>
          </a:p>
        </p:txBody>
      </p:sp>
      <p:pic>
        <p:nvPicPr>
          <p:cNvPr id="812" name="Google Shape;812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9980" y="1213091"/>
            <a:ext cx="1389486" cy="342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9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980" y="1696505"/>
            <a:ext cx="1728154" cy="47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9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5056" y="1221054"/>
            <a:ext cx="943107" cy="9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9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19490" y="2282404"/>
            <a:ext cx="584586" cy="715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9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56116" y="1472504"/>
            <a:ext cx="796666" cy="702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9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53826" y="1609453"/>
            <a:ext cx="1640679" cy="586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9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4166" y="1226693"/>
            <a:ext cx="934078" cy="95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9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18138" y="1180596"/>
            <a:ext cx="934078" cy="983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9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45055" y="1086035"/>
            <a:ext cx="1597722" cy="38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9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73060" y="1555370"/>
            <a:ext cx="669232" cy="688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9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3439" y="2355639"/>
            <a:ext cx="1802282" cy="71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9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07130" y="3162741"/>
            <a:ext cx="1802275" cy="99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9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214241" y="2300920"/>
            <a:ext cx="1510225" cy="78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9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861792" y="2287248"/>
            <a:ext cx="14097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9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241600" y="3242576"/>
            <a:ext cx="1510225" cy="7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9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423869" y="2325712"/>
            <a:ext cx="2419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9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917905" y="3071237"/>
            <a:ext cx="10953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9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28600" y="4250659"/>
            <a:ext cx="2196700" cy="67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9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789956" y="4270709"/>
            <a:ext cx="2419350" cy="591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99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461003" y="818339"/>
            <a:ext cx="1510225" cy="542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9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314880" y="3617981"/>
            <a:ext cx="1285313" cy="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9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064262" y="2884863"/>
            <a:ext cx="1142275" cy="119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9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341489" y="3643723"/>
            <a:ext cx="895900" cy="779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9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515484" y="4112950"/>
            <a:ext cx="1142275" cy="935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9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6341500" y="2840050"/>
            <a:ext cx="1640675" cy="742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7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87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5" name="Google Shape;76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87"/>
          <p:cNvSpPr txBox="1"/>
          <p:nvPr/>
        </p:nvSpPr>
        <p:spPr>
          <a:xfrm>
            <a:off x="228600" y="228600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dirty="0">
                <a:latin typeface="Noto Serif Devanagari"/>
                <a:ea typeface="Noto Serif Devanagari"/>
                <a:cs typeface="Noto Serif Devanagari"/>
                <a:sym typeface="Noto Serif Devanagari"/>
              </a:rPr>
              <a:t>Why onboard as an OVSE?</a:t>
            </a:r>
            <a:endParaRPr sz="2000" b="1" dirty="0"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767" name="Google Shape;767;p87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grpSp>
        <p:nvGrpSpPr>
          <p:cNvPr id="768" name="Google Shape;768;p87"/>
          <p:cNvGrpSpPr/>
          <p:nvPr/>
        </p:nvGrpSpPr>
        <p:grpSpPr>
          <a:xfrm>
            <a:off x="998338" y="1317000"/>
            <a:ext cx="7147324" cy="3168325"/>
            <a:chOff x="649327" y="1164600"/>
            <a:chExt cx="7147324" cy="3168325"/>
          </a:xfrm>
        </p:grpSpPr>
        <p:sp>
          <p:nvSpPr>
            <p:cNvPr id="769" name="Google Shape;769;p87"/>
            <p:cNvSpPr/>
            <p:nvPr/>
          </p:nvSpPr>
          <p:spPr>
            <a:xfrm flipH="1">
              <a:off x="3259051" y="2863875"/>
              <a:ext cx="21888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87"/>
            <p:cNvSpPr/>
            <p:nvPr/>
          </p:nvSpPr>
          <p:spPr>
            <a:xfrm>
              <a:off x="3345451" y="3643725"/>
              <a:ext cx="20160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87"/>
            <p:cNvSpPr txBox="1"/>
            <p:nvPr/>
          </p:nvSpPr>
          <p:spPr>
            <a:xfrm>
              <a:off x="3427051" y="3649925"/>
              <a:ext cx="1852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Improved operational efficiency and lower costs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72" name="Google Shape;772;p87"/>
            <p:cNvSpPr/>
            <p:nvPr/>
          </p:nvSpPr>
          <p:spPr>
            <a:xfrm flipH="1">
              <a:off x="5607851" y="2863875"/>
              <a:ext cx="21888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87"/>
            <p:cNvSpPr/>
            <p:nvPr/>
          </p:nvSpPr>
          <p:spPr>
            <a:xfrm>
              <a:off x="5694251" y="3643725"/>
              <a:ext cx="20160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87"/>
            <p:cNvSpPr txBox="1"/>
            <p:nvPr/>
          </p:nvSpPr>
          <p:spPr>
            <a:xfrm>
              <a:off x="5775851" y="3649925"/>
              <a:ext cx="1852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Secure offline verification with savable output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75" name="Google Shape;775;p87"/>
            <p:cNvSpPr/>
            <p:nvPr/>
          </p:nvSpPr>
          <p:spPr>
            <a:xfrm flipH="1">
              <a:off x="649327" y="2894725"/>
              <a:ext cx="23763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87"/>
            <p:cNvSpPr/>
            <p:nvPr/>
          </p:nvSpPr>
          <p:spPr>
            <a:xfrm>
              <a:off x="743077" y="3674575"/>
              <a:ext cx="21888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87"/>
            <p:cNvSpPr txBox="1"/>
            <p:nvPr/>
          </p:nvSpPr>
          <p:spPr>
            <a:xfrm>
              <a:off x="831577" y="3742325"/>
              <a:ext cx="201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Proof of presence, even offline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78" name="Google Shape;778;p87"/>
            <p:cNvSpPr/>
            <p:nvPr/>
          </p:nvSpPr>
          <p:spPr>
            <a:xfrm flipH="1">
              <a:off x="3259051" y="1164600"/>
              <a:ext cx="21888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87"/>
            <p:cNvSpPr/>
            <p:nvPr/>
          </p:nvSpPr>
          <p:spPr>
            <a:xfrm>
              <a:off x="3345451" y="1944450"/>
              <a:ext cx="20160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87"/>
            <p:cNvSpPr txBox="1"/>
            <p:nvPr/>
          </p:nvSpPr>
          <p:spPr>
            <a:xfrm>
              <a:off x="3427051" y="2043050"/>
              <a:ext cx="185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Reduce compliance burden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81" name="Google Shape;781;p87"/>
            <p:cNvSpPr/>
            <p:nvPr/>
          </p:nvSpPr>
          <p:spPr>
            <a:xfrm flipH="1">
              <a:off x="5607851" y="1164600"/>
              <a:ext cx="21888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87"/>
            <p:cNvSpPr/>
            <p:nvPr/>
          </p:nvSpPr>
          <p:spPr>
            <a:xfrm>
              <a:off x="5694251" y="1944450"/>
              <a:ext cx="20160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87"/>
            <p:cNvSpPr txBox="1"/>
            <p:nvPr/>
          </p:nvSpPr>
          <p:spPr>
            <a:xfrm>
              <a:off x="5775851" y="2043050"/>
              <a:ext cx="185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Quick and Seamless integration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sp>
          <p:nvSpPr>
            <p:cNvPr id="784" name="Google Shape;784;p87"/>
            <p:cNvSpPr/>
            <p:nvPr/>
          </p:nvSpPr>
          <p:spPr>
            <a:xfrm flipH="1">
              <a:off x="649327" y="1195450"/>
              <a:ext cx="2376300" cy="1438200"/>
            </a:xfrm>
            <a:prstGeom prst="roundRect">
              <a:avLst>
                <a:gd name="adj" fmla="val 4139"/>
              </a:avLst>
            </a:prstGeom>
            <a:gradFill>
              <a:gsLst>
                <a:gs pos="0">
                  <a:srgbClr val="EDFDF1">
                    <a:alpha val="0"/>
                  </a:srgbClr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87"/>
            <p:cNvSpPr/>
            <p:nvPr/>
          </p:nvSpPr>
          <p:spPr>
            <a:xfrm>
              <a:off x="743077" y="1975300"/>
              <a:ext cx="2188800" cy="579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82000">
                  <a:srgbClr val="FFF0DD"/>
                </a:gs>
                <a:gs pos="100000">
                  <a:srgbClr val="FFF0DD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87"/>
            <p:cNvSpPr txBox="1"/>
            <p:nvPr/>
          </p:nvSpPr>
          <p:spPr>
            <a:xfrm>
              <a:off x="831577" y="2043050"/>
              <a:ext cx="201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200" b="1">
                  <a:solidFill>
                    <a:srgbClr val="EF8600"/>
                  </a:solidFill>
                  <a:latin typeface="Instrument Sans"/>
                  <a:ea typeface="Instrument Sans"/>
                  <a:cs typeface="Instrument Sans"/>
                  <a:sym typeface="Instrument Sans"/>
                </a:rPr>
                <a:t>Flexible verification of Aadhaar Data</a:t>
              </a:r>
              <a:endParaRPr sz="12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endParaRPr>
            </a:p>
          </p:txBody>
        </p:sp>
        <p:pic>
          <p:nvPicPr>
            <p:cNvPr id="787" name="Google Shape;787;p8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59149" y="1196717"/>
              <a:ext cx="641452" cy="64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8" name="Google Shape;788;p8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43083" y="1258273"/>
              <a:ext cx="518351" cy="518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9" name="Google Shape;789;p8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086047" y="1207616"/>
              <a:ext cx="534794" cy="619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0" name="Google Shape;790;p8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489918" y="2926783"/>
              <a:ext cx="579901" cy="579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1" name="Google Shape;791;p8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43077" y="2895995"/>
              <a:ext cx="641452" cy="64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2" name="Google Shape;792;p8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090315" y="3023094"/>
              <a:ext cx="526255" cy="3872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88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88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88"/>
          <p:cNvSpPr txBox="1"/>
          <p:nvPr/>
        </p:nvSpPr>
        <p:spPr>
          <a:xfrm>
            <a:off x="228600" y="228600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latin typeface="Noto Serif Devanagari"/>
                <a:ea typeface="Noto Serif Devanagari"/>
                <a:cs typeface="Noto Serif Devanagari"/>
                <a:sym typeface="Noto Serif Devanagari"/>
              </a:rPr>
              <a:t>The Gamechanger Policy!</a:t>
            </a:r>
            <a:endParaRPr sz="2000" b="1"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01" name="Google Shape;801;p88"/>
          <p:cNvSpPr txBox="1"/>
          <p:nvPr/>
        </p:nvSpPr>
        <p:spPr>
          <a:xfrm rot="-5400000">
            <a:off x="-585992" y="276156"/>
            <a:ext cx="1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 Platform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2" name="Google Shape;802;p88"/>
          <p:cNvSpPr txBox="1"/>
          <p:nvPr/>
        </p:nvSpPr>
        <p:spPr>
          <a:xfrm>
            <a:off x="246743" y="712129"/>
            <a:ext cx="3864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Apply &gt; UIDAI Verifies &gt; Go Live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03" name="Google Shape;803;p88"/>
          <p:cNvSpPr/>
          <p:nvPr/>
        </p:nvSpPr>
        <p:spPr>
          <a:xfrm rot="5400000">
            <a:off x="3399875" y="-1545150"/>
            <a:ext cx="2322000" cy="85197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4" name="Google Shape;804;p88"/>
          <p:cNvGrpSpPr/>
          <p:nvPr/>
        </p:nvGrpSpPr>
        <p:grpSpPr>
          <a:xfrm>
            <a:off x="367225" y="1610761"/>
            <a:ext cx="8373900" cy="2191153"/>
            <a:chOff x="342975" y="1719050"/>
            <a:chExt cx="8373900" cy="2072600"/>
          </a:xfrm>
        </p:grpSpPr>
        <p:sp>
          <p:nvSpPr>
            <p:cNvPr id="805" name="Google Shape;805;p88"/>
            <p:cNvSpPr/>
            <p:nvPr/>
          </p:nvSpPr>
          <p:spPr>
            <a:xfrm rot="5400000">
              <a:off x="3495825" y="-1429400"/>
              <a:ext cx="2068200" cy="83739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55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88"/>
            <p:cNvSpPr/>
            <p:nvPr/>
          </p:nvSpPr>
          <p:spPr>
            <a:xfrm rot="5400000">
              <a:off x="2693475" y="-627050"/>
              <a:ext cx="2068200" cy="6769200"/>
            </a:xfrm>
            <a:prstGeom prst="round2SameRect">
              <a:avLst>
                <a:gd name="adj1" fmla="val 10333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55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88"/>
            <p:cNvSpPr/>
            <p:nvPr/>
          </p:nvSpPr>
          <p:spPr>
            <a:xfrm rot="5400000">
              <a:off x="1862775" y="199250"/>
              <a:ext cx="2068200" cy="5107800"/>
            </a:xfrm>
            <a:prstGeom prst="round2SameRect">
              <a:avLst>
                <a:gd name="adj1" fmla="val 9277"/>
                <a:gd name="adj2" fmla="val 6495"/>
              </a:avLst>
            </a:prstGeom>
            <a:gradFill>
              <a:gsLst>
                <a:gs pos="0">
                  <a:srgbClr val="FFDDB2"/>
                </a:gs>
                <a:gs pos="55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88"/>
            <p:cNvSpPr/>
            <p:nvPr/>
          </p:nvSpPr>
          <p:spPr>
            <a:xfrm rot="5400000">
              <a:off x="1009725" y="1054850"/>
              <a:ext cx="2068200" cy="3401700"/>
            </a:xfrm>
            <a:prstGeom prst="round2SameRect">
              <a:avLst>
                <a:gd name="adj1" fmla="val 10243"/>
                <a:gd name="adj2" fmla="val 9535"/>
              </a:avLst>
            </a:prstGeom>
            <a:gradFill>
              <a:gsLst>
                <a:gs pos="0">
                  <a:srgbClr val="FFDDB2"/>
                </a:gs>
                <a:gs pos="87000">
                  <a:srgbClr val="FBFFFD"/>
                </a:gs>
                <a:gs pos="100000">
                  <a:srgbClr val="FBFFFD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88"/>
            <p:cNvSpPr/>
            <p:nvPr/>
          </p:nvSpPr>
          <p:spPr>
            <a:xfrm rot="5400000">
              <a:off x="155775" y="1908825"/>
              <a:ext cx="2068200" cy="1693800"/>
            </a:xfrm>
            <a:prstGeom prst="round2SameRect">
              <a:avLst>
                <a:gd name="adj1" fmla="val 13002"/>
                <a:gd name="adj2" fmla="val 7225"/>
              </a:avLst>
            </a:prstGeom>
            <a:gradFill>
              <a:gsLst>
                <a:gs pos="0">
                  <a:srgbClr val="FFDDB2"/>
                </a:gs>
                <a:gs pos="100000">
                  <a:srgbClr val="FEEDD8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0" name="Google Shape;810;p88"/>
          <p:cNvSpPr txBox="1"/>
          <p:nvPr/>
        </p:nvSpPr>
        <p:spPr>
          <a:xfrm>
            <a:off x="598646" y="2847897"/>
            <a:ext cx="1437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7244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Apply for OVSE Registration</a:t>
            </a:r>
            <a:endParaRPr sz="1100" b="1">
              <a:solidFill>
                <a:srgbClr val="172448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11" name="Google Shape;811;p88"/>
          <p:cNvSpPr txBox="1"/>
          <p:nvPr/>
        </p:nvSpPr>
        <p:spPr>
          <a:xfrm>
            <a:off x="2270433" y="2847897"/>
            <a:ext cx="1437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7244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UIDAI verifies the details</a:t>
            </a:r>
            <a:endParaRPr sz="1100" b="1">
              <a:solidFill>
                <a:srgbClr val="172448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12" name="Google Shape;812;p88"/>
          <p:cNvSpPr txBox="1"/>
          <p:nvPr/>
        </p:nvSpPr>
        <p:spPr>
          <a:xfrm>
            <a:off x="3942220" y="2847897"/>
            <a:ext cx="14379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7244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Application is processed for Approval</a:t>
            </a:r>
            <a:endParaRPr sz="1100" b="1">
              <a:solidFill>
                <a:srgbClr val="172448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13" name="Google Shape;813;p88"/>
          <p:cNvSpPr txBox="1"/>
          <p:nvPr/>
        </p:nvSpPr>
        <p:spPr>
          <a:xfrm>
            <a:off x="5614007" y="2847897"/>
            <a:ext cx="14379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7244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Registration Certificate (valid for 2 years) issued post approval</a:t>
            </a:r>
            <a:endParaRPr sz="1100" b="1">
              <a:solidFill>
                <a:srgbClr val="172448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814" name="Google Shape;814;p88" title="tabler-icon-file-imp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248" y="1878350"/>
            <a:ext cx="808201" cy="808201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88"/>
          <p:cNvSpPr txBox="1"/>
          <p:nvPr/>
        </p:nvSpPr>
        <p:spPr>
          <a:xfrm>
            <a:off x="7285794" y="2847897"/>
            <a:ext cx="14379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172448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OVSE initiates integration with help from UIDAI tech team </a:t>
            </a:r>
            <a:endParaRPr sz="1100" b="1">
              <a:solidFill>
                <a:srgbClr val="172448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16" name="Google Shape;816;p88"/>
          <p:cNvSpPr txBox="1"/>
          <p:nvPr/>
        </p:nvSpPr>
        <p:spPr>
          <a:xfrm>
            <a:off x="301025" y="4558500"/>
            <a:ext cx="698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Send your applications to ovse.registration@uidai.net.in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817" name="Google Shape;817;p88" title="tabler-icon-file-lik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2323" y="1878338"/>
            <a:ext cx="808201" cy="80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88" title="tabler-icon-arrow-merg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9398" y="1878338"/>
            <a:ext cx="808201" cy="80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88" title="tabler-icon-file-certificat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30861" y="1878338"/>
            <a:ext cx="808201" cy="80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88" title="tabler-icon-file-chec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45323" y="1878338"/>
            <a:ext cx="808201" cy="80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9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9"/>
          <p:cNvSpPr txBox="1"/>
          <p:nvPr/>
        </p:nvSpPr>
        <p:spPr>
          <a:xfrm>
            <a:off x="228600" y="2662192"/>
            <a:ext cx="8687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800" b="1" i="1">
                <a:solidFill>
                  <a:schemeClr val="lt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No platform evolves alone.</a:t>
            </a:r>
            <a:endParaRPr sz="3800" b="1" i="1">
              <a:solidFill>
                <a:schemeClr val="lt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27" name="Google Shape;827;p89"/>
          <p:cNvSpPr txBox="1"/>
          <p:nvPr/>
        </p:nvSpPr>
        <p:spPr>
          <a:xfrm>
            <a:off x="208351" y="3347975"/>
            <a:ext cx="6372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next breakthrough in India's identity stack 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will come from someone in this room.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7390" y="-1038315"/>
            <a:ext cx="35047563" cy="2361111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90"/>
          <p:cNvSpPr/>
          <p:nvPr/>
        </p:nvSpPr>
        <p:spPr>
          <a:xfrm>
            <a:off x="6193794" y="865204"/>
            <a:ext cx="2722500" cy="40443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90"/>
          <p:cNvSpPr txBox="1"/>
          <p:nvPr/>
        </p:nvSpPr>
        <p:spPr>
          <a:xfrm>
            <a:off x="228600" y="228600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SITAA: India's open innovation engine for ID Tech.</a:t>
            </a:r>
            <a:endParaRPr sz="2000" b="1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35" name="Google Shape;835;p90"/>
          <p:cNvSpPr txBox="1"/>
          <p:nvPr/>
        </p:nvSpPr>
        <p:spPr>
          <a:xfrm>
            <a:off x="201239" y="1411757"/>
            <a:ext cx="54702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459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rgbClr val="07345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India's ID tech ecosystem is fragmented — innovation happens in silos</a:t>
            </a:r>
            <a:endParaRPr sz="1600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459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rgbClr val="07345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Technology is evolving faster than any single organisation can track</a:t>
            </a:r>
            <a:endParaRPr sz="1600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459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rgbClr val="07345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problems ahead; Deepfake liveness, contactless biometrics, offline credentials — need the best minds in the country</a:t>
            </a:r>
            <a:endParaRPr sz="1600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459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rgbClr val="07345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UIDAI has the infrastructure. </a:t>
            </a:r>
            <a:endParaRPr sz="1600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07345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 have the innovation.</a:t>
            </a:r>
            <a:endParaRPr sz="1600" b="1" i="1">
              <a:solidFill>
                <a:srgbClr val="073459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36" name="Google Shape;836;p90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90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90"/>
          <p:cNvSpPr txBox="1"/>
          <p:nvPr/>
        </p:nvSpPr>
        <p:spPr>
          <a:xfrm rot="-5400000">
            <a:off x="-323850" y="519151"/>
            <a:ext cx="796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SITAA</a:t>
            </a: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39" name="Google Shape;839;p90"/>
          <p:cNvSpPr/>
          <p:nvPr/>
        </p:nvSpPr>
        <p:spPr>
          <a:xfrm>
            <a:off x="6306000" y="1331875"/>
            <a:ext cx="2498100" cy="3304200"/>
          </a:xfrm>
          <a:prstGeom prst="round2SameRect">
            <a:avLst>
              <a:gd name="adj1" fmla="val 9277"/>
              <a:gd name="adj2" fmla="val 12456"/>
            </a:avLst>
          </a:prstGeom>
          <a:gradFill>
            <a:gsLst>
              <a:gs pos="0">
                <a:srgbClr val="FFDDB2"/>
              </a:gs>
              <a:gs pos="33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90"/>
          <p:cNvSpPr/>
          <p:nvPr/>
        </p:nvSpPr>
        <p:spPr>
          <a:xfrm>
            <a:off x="6306000" y="2403875"/>
            <a:ext cx="2498100" cy="2573100"/>
          </a:xfrm>
          <a:prstGeom prst="round2SameRect">
            <a:avLst>
              <a:gd name="adj1" fmla="val 9277"/>
              <a:gd name="adj2" fmla="val 10664"/>
            </a:avLst>
          </a:prstGeom>
          <a:gradFill>
            <a:gsLst>
              <a:gs pos="0">
                <a:srgbClr val="FFDDB2"/>
              </a:gs>
              <a:gs pos="58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90"/>
          <p:cNvSpPr txBox="1"/>
          <p:nvPr/>
        </p:nvSpPr>
        <p:spPr>
          <a:xfrm>
            <a:off x="6397650" y="1716355"/>
            <a:ext cx="23148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₹2.5 Cr for Startups  ·  Up to ₹5 Cr for Academia  ·  Grant-based, output-linked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42" name="Google Shape;842;p90"/>
          <p:cNvSpPr txBox="1"/>
          <p:nvPr/>
        </p:nvSpPr>
        <p:spPr>
          <a:xfrm>
            <a:off x="6385059" y="4343182"/>
            <a:ext cx="1916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Core Focus Areas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43" name="Google Shape;843;p90"/>
          <p:cNvSpPr/>
          <p:nvPr/>
        </p:nvSpPr>
        <p:spPr>
          <a:xfrm>
            <a:off x="6306000" y="3580500"/>
            <a:ext cx="2498100" cy="1329000"/>
          </a:xfrm>
          <a:prstGeom prst="round2SameRect">
            <a:avLst>
              <a:gd name="adj1" fmla="val 9277"/>
              <a:gd name="adj2" fmla="val 8276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90"/>
          <p:cNvSpPr txBox="1"/>
          <p:nvPr/>
        </p:nvSpPr>
        <p:spPr>
          <a:xfrm>
            <a:off x="6397650" y="1467809"/>
            <a:ext cx="131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Funding</a:t>
            </a:r>
            <a:endParaRPr sz="1200" b="1" i="0" u="none" strike="noStrike" cap="none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45" name="Google Shape;845;p90"/>
          <p:cNvSpPr txBox="1"/>
          <p:nvPr/>
        </p:nvSpPr>
        <p:spPr>
          <a:xfrm>
            <a:off x="6397650" y="2721980"/>
            <a:ext cx="2314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Co-develop with UIDAI engineers  ·  Co-funding arrangements available  ·  Access to live infrastructure guidance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46" name="Google Shape;846;p90"/>
          <p:cNvSpPr txBox="1"/>
          <p:nvPr/>
        </p:nvSpPr>
        <p:spPr>
          <a:xfrm>
            <a:off x="6397650" y="2473434"/>
            <a:ext cx="131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Co-creation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47" name="Google Shape;847;p90"/>
          <p:cNvSpPr txBox="1"/>
          <p:nvPr/>
        </p:nvSpPr>
        <p:spPr>
          <a:xfrm>
            <a:off x="6397650" y="3903401"/>
            <a:ext cx="23148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 within UIDAI's environment  ·  No Cost. No Commitment.  ·  Real data, controlled sandbox access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48" name="Google Shape;848;p90"/>
          <p:cNvSpPr txBox="1"/>
          <p:nvPr/>
        </p:nvSpPr>
        <p:spPr>
          <a:xfrm>
            <a:off x="6397650" y="3645775"/>
            <a:ext cx="20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 Dev Support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849" name="Google Shape;849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90"/>
          <p:cNvSpPr txBox="1"/>
          <p:nvPr/>
        </p:nvSpPr>
        <p:spPr>
          <a:xfrm>
            <a:off x="210413" y="773975"/>
            <a:ext cx="6059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strategic initiative by UIDAI to co-create the future of identity with startups, industry, and academia.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7390" y="-1038315"/>
            <a:ext cx="35047563" cy="2361111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91"/>
          <p:cNvSpPr/>
          <p:nvPr/>
        </p:nvSpPr>
        <p:spPr>
          <a:xfrm>
            <a:off x="3307319" y="856129"/>
            <a:ext cx="2722500" cy="40443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91"/>
          <p:cNvSpPr/>
          <p:nvPr/>
        </p:nvSpPr>
        <p:spPr>
          <a:xfrm>
            <a:off x="3459938" y="2293173"/>
            <a:ext cx="2569800" cy="26073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55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91"/>
          <p:cNvSpPr/>
          <p:nvPr/>
        </p:nvSpPr>
        <p:spPr>
          <a:xfrm>
            <a:off x="3459937" y="3081022"/>
            <a:ext cx="2569800" cy="1826700"/>
          </a:xfrm>
          <a:prstGeom prst="round2SameRect">
            <a:avLst>
              <a:gd name="adj1" fmla="val 13456"/>
              <a:gd name="adj2" fmla="val 9535"/>
            </a:avLst>
          </a:prstGeom>
          <a:gradFill>
            <a:gsLst>
              <a:gs pos="0">
                <a:srgbClr val="FFDDB2"/>
              </a:gs>
              <a:gs pos="87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91"/>
          <p:cNvSpPr/>
          <p:nvPr/>
        </p:nvSpPr>
        <p:spPr>
          <a:xfrm>
            <a:off x="3459938" y="3863364"/>
            <a:ext cx="2569800" cy="1037100"/>
          </a:xfrm>
          <a:prstGeom prst="round2SameRect">
            <a:avLst>
              <a:gd name="adj1" fmla="val 26207"/>
              <a:gd name="adj2" fmla="val 14696"/>
            </a:avLst>
          </a:prstGeom>
          <a:gradFill>
            <a:gsLst>
              <a:gs pos="0">
                <a:srgbClr val="FFDDB2"/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91"/>
          <p:cNvSpPr txBox="1"/>
          <p:nvPr/>
        </p:nvSpPr>
        <p:spPr>
          <a:xfrm>
            <a:off x="228600" y="228600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ID'athon: SITAA's innovation in action.</a:t>
            </a:r>
            <a:endParaRPr sz="2000" b="1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61" name="Google Shape;861;p91"/>
          <p:cNvSpPr txBox="1"/>
          <p:nvPr/>
        </p:nvSpPr>
        <p:spPr>
          <a:xfrm>
            <a:off x="3296549" y="1048902"/>
            <a:ext cx="2495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Verifiable Credentials ID'athon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62" name="Google Shape;862;p91"/>
          <p:cNvSpPr txBox="1"/>
          <p:nvPr/>
        </p:nvSpPr>
        <p:spPr>
          <a:xfrm>
            <a:off x="3296550" y="1619965"/>
            <a:ext cx="2744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Startups and Industry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63" name="Google Shape;863;p91"/>
          <p:cNvSpPr txBox="1"/>
          <p:nvPr/>
        </p:nvSpPr>
        <p:spPr>
          <a:xfrm>
            <a:off x="3535253" y="2352563"/>
            <a:ext cx="1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160+</a:t>
            </a:r>
            <a:endParaRPr sz="2400" b="1"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64" name="Google Shape;864;p91"/>
          <p:cNvSpPr txBox="1"/>
          <p:nvPr/>
        </p:nvSpPr>
        <p:spPr>
          <a:xfrm>
            <a:off x="3535254" y="3138390"/>
            <a:ext cx="250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6</a:t>
            </a:r>
            <a:endParaRPr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65" name="Google Shape;865;p91"/>
          <p:cNvSpPr txBox="1"/>
          <p:nvPr/>
        </p:nvSpPr>
        <p:spPr>
          <a:xfrm>
            <a:off x="3535253" y="3924217"/>
            <a:ext cx="1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₹10 Lakhs</a:t>
            </a:r>
            <a:endParaRPr sz="2400" b="1"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66" name="Google Shape;866;p91"/>
          <p:cNvSpPr txBox="1"/>
          <p:nvPr/>
        </p:nvSpPr>
        <p:spPr>
          <a:xfrm>
            <a:off x="4132392" y="2796766"/>
            <a:ext cx="18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Applications</a:t>
            </a: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67" name="Google Shape;867;p91"/>
          <p:cNvSpPr txBox="1"/>
          <p:nvPr/>
        </p:nvSpPr>
        <p:spPr>
          <a:xfrm>
            <a:off x="4131860" y="4340931"/>
            <a:ext cx="185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Prize Pool</a:t>
            </a: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68" name="Google Shape;868;p91"/>
          <p:cNvSpPr txBox="1"/>
          <p:nvPr/>
        </p:nvSpPr>
        <p:spPr>
          <a:xfrm>
            <a:off x="4132125" y="3568850"/>
            <a:ext cx="18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Teams Shortlisted</a:t>
            </a: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869" name="Google Shape;869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91"/>
          <p:cNvSpPr/>
          <p:nvPr/>
        </p:nvSpPr>
        <p:spPr>
          <a:xfrm>
            <a:off x="6182969" y="909429"/>
            <a:ext cx="2722500" cy="40443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91"/>
          <p:cNvSpPr/>
          <p:nvPr/>
        </p:nvSpPr>
        <p:spPr>
          <a:xfrm>
            <a:off x="6335588" y="2346473"/>
            <a:ext cx="2569800" cy="2607300"/>
          </a:xfrm>
          <a:prstGeom prst="round2SameRect">
            <a:avLst>
              <a:gd name="adj1" fmla="val 9277"/>
              <a:gd name="adj2" fmla="val 6495"/>
            </a:avLst>
          </a:prstGeom>
          <a:gradFill>
            <a:gsLst>
              <a:gs pos="0">
                <a:srgbClr val="FFDDB2"/>
              </a:gs>
              <a:gs pos="55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91"/>
          <p:cNvSpPr/>
          <p:nvPr/>
        </p:nvSpPr>
        <p:spPr>
          <a:xfrm>
            <a:off x="6335587" y="3134322"/>
            <a:ext cx="2569800" cy="1826700"/>
          </a:xfrm>
          <a:prstGeom prst="round2SameRect">
            <a:avLst>
              <a:gd name="adj1" fmla="val 13456"/>
              <a:gd name="adj2" fmla="val 9535"/>
            </a:avLst>
          </a:prstGeom>
          <a:gradFill>
            <a:gsLst>
              <a:gs pos="0">
                <a:srgbClr val="FFDDB2"/>
              </a:gs>
              <a:gs pos="87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91"/>
          <p:cNvSpPr/>
          <p:nvPr/>
        </p:nvSpPr>
        <p:spPr>
          <a:xfrm>
            <a:off x="6335588" y="3916664"/>
            <a:ext cx="2569800" cy="1037100"/>
          </a:xfrm>
          <a:prstGeom prst="round2SameRect">
            <a:avLst>
              <a:gd name="adj1" fmla="val 26207"/>
              <a:gd name="adj2" fmla="val 14696"/>
            </a:avLst>
          </a:prstGeom>
          <a:gradFill>
            <a:gsLst>
              <a:gs pos="0">
                <a:srgbClr val="FFDDB2"/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91"/>
          <p:cNvSpPr txBox="1"/>
          <p:nvPr/>
        </p:nvSpPr>
        <p:spPr>
          <a:xfrm>
            <a:off x="6172199" y="1102202"/>
            <a:ext cx="249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Hackathon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75" name="Google Shape;875;p91"/>
          <p:cNvSpPr txBox="1"/>
          <p:nvPr/>
        </p:nvSpPr>
        <p:spPr>
          <a:xfrm>
            <a:off x="6172200" y="1444665"/>
            <a:ext cx="27441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Students &amp; Academia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76" name="Google Shape;876;p91"/>
          <p:cNvSpPr txBox="1"/>
          <p:nvPr/>
        </p:nvSpPr>
        <p:spPr>
          <a:xfrm>
            <a:off x="6410903" y="2405863"/>
            <a:ext cx="1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5300+</a:t>
            </a:r>
            <a:endParaRPr sz="2400" b="1"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77" name="Google Shape;877;p91"/>
          <p:cNvSpPr txBox="1"/>
          <p:nvPr/>
        </p:nvSpPr>
        <p:spPr>
          <a:xfrm>
            <a:off x="6410904" y="3191690"/>
            <a:ext cx="250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5</a:t>
            </a:r>
            <a:endParaRPr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78" name="Google Shape;878;p91"/>
          <p:cNvSpPr txBox="1"/>
          <p:nvPr/>
        </p:nvSpPr>
        <p:spPr>
          <a:xfrm>
            <a:off x="6410903" y="3977517"/>
            <a:ext cx="1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28418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₹5 Lakh</a:t>
            </a:r>
            <a:endParaRPr sz="2400" b="1">
              <a:solidFill>
                <a:srgbClr val="28418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79" name="Google Shape;879;p91"/>
          <p:cNvSpPr txBox="1"/>
          <p:nvPr/>
        </p:nvSpPr>
        <p:spPr>
          <a:xfrm>
            <a:off x="7008042" y="2850066"/>
            <a:ext cx="18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Applications</a:t>
            </a: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80" name="Google Shape;880;p91"/>
          <p:cNvSpPr txBox="1"/>
          <p:nvPr/>
        </p:nvSpPr>
        <p:spPr>
          <a:xfrm>
            <a:off x="7007510" y="4394231"/>
            <a:ext cx="18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Prize Pool</a:t>
            </a: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81" name="Google Shape;881;p91"/>
          <p:cNvSpPr txBox="1"/>
          <p:nvPr/>
        </p:nvSpPr>
        <p:spPr>
          <a:xfrm>
            <a:off x="7007775" y="3622150"/>
            <a:ext cx="185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Teams Shortlisted</a:t>
            </a:r>
            <a:endParaRPr sz="1200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82" name="Google Shape;882;p91"/>
          <p:cNvSpPr txBox="1"/>
          <p:nvPr/>
        </p:nvSpPr>
        <p:spPr>
          <a:xfrm>
            <a:off x="201245" y="1411750"/>
            <a:ext cx="2722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Two tracks. </a:t>
            </a:r>
            <a:b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Thousands of applicants. </a:t>
            </a:r>
            <a:b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problems. </a:t>
            </a:r>
            <a:b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stakes.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83" name="Google Shape;883;p91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91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91"/>
          <p:cNvSpPr txBox="1"/>
          <p:nvPr/>
        </p:nvSpPr>
        <p:spPr>
          <a:xfrm rot="-5400000">
            <a:off x="-323850" y="519151"/>
            <a:ext cx="796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SITAA</a:t>
            </a: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7390" y="-1038315"/>
            <a:ext cx="35047563" cy="2361111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92"/>
          <p:cNvSpPr/>
          <p:nvPr/>
        </p:nvSpPr>
        <p:spPr>
          <a:xfrm>
            <a:off x="3210725" y="853675"/>
            <a:ext cx="2722500" cy="40467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92"/>
          <p:cNvSpPr txBox="1"/>
          <p:nvPr/>
        </p:nvSpPr>
        <p:spPr>
          <a:xfrm>
            <a:off x="228600" y="228600"/>
            <a:ext cx="86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Aadhaar Sandbox: your playground.</a:t>
            </a:r>
            <a:endParaRPr sz="2000" b="1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893" name="Google Shape;893;p92"/>
          <p:cNvSpPr txBox="1"/>
          <p:nvPr/>
        </p:nvSpPr>
        <p:spPr>
          <a:xfrm>
            <a:off x="301025" y="1048900"/>
            <a:ext cx="2744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Test, validate, and fail fast — before touching live systems.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4" name="Google Shape;894;p92"/>
          <p:cNvSpPr/>
          <p:nvPr/>
        </p:nvSpPr>
        <p:spPr>
          <a:xfrm>
            <a:off x="3322925" y="853675"/>
            <a:ext cx="2498100" cy="3773400"/>
          </a:xfrm>
          <a:prstGeom prst="round2SameRect">
            <a:avLst>
              <a:gd name="adj1" fmla="val 9277"/>
              <a:gd name="adj2" fmla="val 12456"/>
            </a:avLst>
          </a:prstGeom>
          <a:gradFill>
            <a:gsLst>
              <a:gs pos="0">
                <a:srgbClr val="FFDDB2"/>
              </a:gs>
              <a:gs pos="33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92"/>
          <p:cNvSpPr/>
          <p:nvPr/>
        </p:nvSpPr>
        <p:spPr>
          <a:xfrm>
            <a:off x="3322925" y="1595725"/>
            <a:ext cx="2498100" cy="3219900"/>
          </a:xfrm>
          <a:prstGeom prst="round2SameRect">
            <a:avLst>
              <a:gd name="adj1" fmla="val 9277"/>
              <a:gd name="adj2" fmla="val 10664"/>
            </a:avLst>
          </a:prstGeom>
          <a:gradFill>
            <a:gsLst>
              <a:gs pos="0">
                <a:srgbClr val="FFDDB2"/>
              </a:gs>
              <a:gs pos="58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92"/>
          <p:cNvSpPr/>
          <p:nvPr/>
        </p:nvSpPr>
        <p:spPr>
          <a:xfrm>
            <a:off x="3322925" y="2662350"/>
            <a:ext cx="2498100" cy="2153100"/>
          </a:xfrm>
          <a:prstGeom prst="round2SameRect">
            <a:avLst>
              <a:gd name="adj1" fmla="val 9277"/>
              <a:gd name="adj2" fmla="val 11370"/>
            </a:avLst>
          </a:prstGeom>
          <a:gradFill>
            <a:gsLst>
              <a:gs pos="0">
                <a:srgbClr val="FFDDB2"/>
              </a:gs>
              <a:gs pos="84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92"/>
          <p:cNvSpPr/>
          <p:nvPr/>
        </p:nvSpPr>
        <p:spPr>
          <a:xfrm>
            <a:off x="3322925" y="3643875"/>
            <a:ext cx="2498100" cy="1171500"/>
          </a:xfrm>
          <a:prstGeom prst="round2SameRect">
            <a:avLst>
              <a:gd name="adj1" fmla="val 9277"/>
              <a:gd name="adj2" fmla="val 22412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92"/>
          <p:cNvSpPr txBox="1"/>
          <p:nvPr/>
        </p:nvSpPr>
        <p:spPr>
          <a:xfrm>
            <a:off x="3423957" y="888954"/>
            <a:ext cx="2314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you can do today?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9" name="Google Shape;899;p92"/>
          <p:cNvSpPr txBox="1"/>
          <p:nvPr/>
        </p:nvSpPr>
        <p:spPr>
          <a:xfrm>
            <a:off x="3402963" y="1987145"/>
            <a:ext cx="2314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 end-to-end KYC pipelines in a sandboxed replica before deploying to production.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0" name="Google Shape;900;p92"/>
          <p:cNvSpPr txBox="1"/>
          <p:nvPr/>
        </p:nvSpPr>
        <p:spPr>
          <a:xfrm>
            <a:off x="3402963" y="1733788"/>
            <a:ext cx="231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eKYC Workflow Validation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1" name="Google Shape;901;p92"/>
          <p:cNvSpPr txBox="1"/>
          <p:nvPr/>
        </p:nvSpPr>
        <p:spPr>
          <a:xfrm>
            <a:off x="3402963" y="2955869"/>
            <a:ext cx="23148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and test OAuth-based Aadhaar Login flows with simulated user data.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2" name="Google Shape;902;p92"/>
          <p:cNvSpPr txBox="1"/>
          <p:nvPr/>
        </p:nvSpPr>
        <p:spPr>
          <a:xfrm>
            <a:off x="3402963" y="2756300"/>
            <a:ext cx="23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Aadhaar Login Integration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3" name="Google Shape;903;p92"/>
          <p:cNvSpPr txBox="1"/>
          <p:nvPr/>
        </p:nvSpPr>
        <p:spPr>
          <a:xfrm>
            <a:off x="3402963" y="4036307"/>
            <a:ext cx="23148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Validate fingerprint, iris, face, and OTP authentication in combination — simultaneously.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4" name="Google Shape;904;p92"/>
          <p:cNvSpPr txBox="1"/>
          <p:nvPr/>
        </p:nvSpPr>
        <p:spPr>
          <a:xfrm>
            <a:off x="3402963" y="3760538"/>
            <a:ext cx="23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Multi-modal Auth Testing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905" name="Google Shape;90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92"/>
          <p:cNvSpPr txBox="1"/>
          <p:nvPr/>
        </p:nvSpPr>
        <p:spPr>
          <a:xfrm>
            <a:off x="301025" y="2022863"/>
            <a:ext cx="23568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risk-free environment enabling organisations to build, test, and refine Aadhaar-based digital identity solutions without impacting live production systems. No AUA licence needed to get started.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Integration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7" name="Google Shape;907;p92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92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92"/>
          <p:cNvSpPr txBox="1"/>
          <p:nvPr/>
        </p:nvSpPr>
        <p:spPr>
          <a:xfrm rot="-5400000">
            <a:off x="-323850" y="519151"/>
            <a:ext cx="796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SITAA</a:t>
            </a: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0" name="Google Shape;910;p92"/>
          <p:cNvSpPr/>
          <p:nvPr/>
        </p:nvSpPr>
        <p:spPr>
          <a:xfrm>
            <a:off x="6022875" y="876875"/>
            <a:ext cx="2722500" cy="4046700"/>
          </a:xfrm>
          <a:prstGeom prst="roundRect">
            <a:avLst>
              <a:gd name="adj" fmla="val 3605"/>
            </a:avLst>
          </a:prstGeom>
          <a:gradFill>
            <a:gsLst>
              <a:gs pos="0">
                <a:srgbClr val="EDFDF1">
                  <a:alpha val="0"/>
                </a:srgbClr>
              </a:gs>
              <a:gs pos="100000">
                <a:srgbClr val="FEEDD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92"/>
          <p:cNvSpPr/>
          <p:nvPr/>
        </p:nvSpPr>
        <p:spPr>
          <a:xfrm>
            <a:off x="6135075" y="876875"/>
            <a:ext cx="2498100" cy="3773400"/>
          </a:xfrm>
          <a:prstGeom prst="round2SameRect">
            <a:avLst>
              <a:gd name="adj1" fmla="val 9277"/>
              <a:gd name="adj2" fmla="val 12456"/>
            </a:avLst>
          </a:prstGeom>
          <a:gradFill>
            <a:gsLst>
              <a:gs pos="0">
                <a:srgbClr val="FFDDB2"/>
              </a:gs>
              <a:gs pos="33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92"/>
          <p:cNvSpPr/>
          <p:nvPr/>
        </p:nvSpPr>
        <p:spPr>
          <a:xfrm>
            <a:off x="6135075" y="1618925"/>
            <a:ext cx="2498100" cy="3219900"/>
          </a:xfrm>
          <a:prstGeom prst="round2SameRect">
            <a:avLst>
              <a:gd name="adj1" fmla="val 9277"/>
              <a:gd name="adj2" fmla="val 10664"/>
            </a:avLst>
          </a:prstGeom>
          <a:gradFill>
            <a:gsLst>
              <a:gs pos="0">
                <a:srgbClr val="FFDDB2"/>
              </a:gs>
              <a:gs pos="58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92"/>
          <p:cNvSpPr/>
          <p:nvPr/>
        </p:nvSpPr>
        <p:spPr>
          <a:xfrm>
            <a:off x="6135075" y="2685550"/>
            <a:ext cx="2498100" cy="2153100"/>
          </a:xfrm>
          <a:prstGeom prst="round2SameRect">
            <a:avLst>
              <a:gd name="adj1" fmla="val 9277"/>
              <a:gd name="adj2" fmla="val 11370"/>
            </a:avLst>
          </a:prstGeom>
          <a:gradFill>
            <a:gsLst>
              <a:gs pos="0">
                <a:srgbClr val="FFDDB2"/>
              </a:gs>
              <a:gs pos="84000">
                <a:srgbClr val="FBFFFD"/>
              </a:gs>
              <a:gs pos="100000">
                <a:srgbClr val="FBFFF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92"/>
          <p:cNvSpPr/>
          <p:nvPr/>
        </p:nvSpPr>
        <p:spPr>
          <a:xfrm>
            <a:off x="6135075" y="3667075"/>
            <a:ext cx="2498100" cy="1171500"/>
          </a:xfrm>
          <a:prstGeom prst="round2SameRect">
            <a:avLst>
              <a:gd name="adj1" fmla="val 9277"/>
              <a:gd name="adj2" fmla="val 22412"/>
            </a:avLst>
          </a:prstGeom>
          <a:gradFill>
            <a:gsLst>
              <a:gs pos="0">
                <a:srgbClr val="FFDDB2"/>
              </a:gs>
              <a:gs pos="82000">
                <a:srgbClr val="FFF0DD"/>
              </a:gs>
              <a:gs pos="100000">
                <a:srgbClr val="FFF0DD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92"/>
          <p:cNvSpPr txBox="1"/>
          <p:nvPr/>
        </p:nvSpPr>
        <p:spPr>
          <a:xfrm>
            <a:off x="6236107" y="912154"/>
            <a:ext cx="2314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What's coming?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Roadmap</a:t>
            </a:r>
            <a:endParaRPr sz="1600" b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6" name="Google Shape;916;p92"/>
          <p:cNvSpPr txBox="1"/>
          <p:nvPr/>
        </p:nvSpPr>
        <p:spPr>
          <a:xfrm>
            <a:off x="6215113" y="2133610"/>
            <a:ext cx="2314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Native wallet support for Aadhaar -linked verifiable credentials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7" name="Google Shape;917;p92"/>
          <p:cNvSpPr txBox="1"/>
          <p:nvPr/>
        </p:nvSpPr>
        <p:spPr>
          <a:xfrm>
            <a:off x="6215113" y="1756988"/>
            <a:ext cx="231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Digital Identity Wallet Integration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8" name="Google Shape;918;p92"/>
          <p:cNvSpPr txBox="1"/>
          <p:nvPr/>
        </p:nvSpPr>
        <p:spPr>
          <a:xfrm>
            <a:off x="6236113" y="2975719"/>
            <a:ext cx="2314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Contactless fingerprint and iris capture — built for modern devices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19" name="Google Shape;919;p92"/>
          <p:cNvSpPr txBox="1"/>
          <p:nvPr/>
        </p:nvSpPr>
        <p:spPr>
          <a:xfrm>
            <a:off x="6215113" y="2757088"/>
            <a:ext cx="2356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Touch-less Biometric SDK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20" name="Google Shape;920;p92"/>
          <p:cNvSpPr txBox="1"/>
          <p:nvPr/>
        </p:nvSpPr>
        <p:spPr>
          <a:xfrm>
            <a:off x="6215113" y="4145782"/>
            <a:ext cx="23148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>
                <a:solidFill>
                  <a:srgbClr val="3F3F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Advanced presentation attack detection — challenge open to academia too</a:t>
            </a:r>
            <a:endParaRPr sz="1050">
              <a:solidFill>
                <a:srgbClr val="3F3F3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21" name="Google Shape;921;p92"/>
          <p:cNvSpPr txBox="1"/>
          <p:nvPr/>
        </p:nvSpPr>
        <p:spPr>
          <a:xfrm>
            <a:off x="6215113" y="3772532"/>
            <a:ext cx="2356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Deepfake &amp; Liveness Detection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6" name="Google Shape;926;p93"/>
          <p:cNvGrpSpPr/>
          <p:nvPr/>
        </p:nvGrpSpPr>
        <p:grpSpPr>
          <a:xfrm>
            <a:off x="301021" y="696752"/>
            <a:ext cx="5043584" cy="4443900"/>
            <a:chOff x="319314" y="413254"/>
            <a:chExt cx="7783308" cy="4443900"/>
          </a:xfrm>
        </p:grpSpPr>
        <p:sp>
          <p:nvSpPr>
            <p:cNvPr id="927" name="Google Shape;927;p93"/>
            <p:cNvSpPr/>
            <p:nvPr/>
          </p:nvSpPr>
          <p:spPr>
            <a:xfrm>
              <a:off x="319314" y="413254"/>
              <a:ext cx="7783200" cy="4443900"/>
            </a:xfrm>
            <a:prstGeom prst="triangle">
              <a:avLst>
                <a:gd name="adj" fmla="val 57679"/>
              </a:avLst>
            </a:prstGeom>
            <a:solidFill>
              <a:srgbClr val="FDF3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EED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93"/>
            <p:cNvSpPr/>
            <p:nvPr/>
          </p:nvSpPr>
          <p:spPr>
            <a:xfrm>
              <a:off x="319320" y="1444902"/>
              <a:ext cx="7783200" cy="3412200"/>
            </a:xfrm>
            <a:prstGeom prst="triangle">
              <a:avLst>
                <a:gd name="adj" fmla="val 57431"/>
              </a:avLst>
            </a:prstGeom>
            <a:solidFill>
              <a:srgbClr val="FCE7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93"/>
            <p:cNvSpPr/>
            <p:nvPr/>
          </p:nvSpPr>
          <p:spPr>
            <a:xfrm>
              <a:off x="319320" y="2399127"/>
              <a:ext cx="7783200" cy="2456400"/>
            </a:xfrm>
            <a:prstGeom prst="triangle">
              <a:avLst>
                <a:gd name="adj" fmla="val 57949"/>
              </a:avLst>
            </a:prstGeom>
            <a:solidFill>
              <a:srgbClr val="FADA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93"/>
            <p:cNvSpPr/>
            <p:nvPr/>
          </p:nvSpPr>
          <p:spPr>
            <a:xfrm>
              <a:off x="410022" y="3346502"/>
              <a:ext cx="7692600" cy="1510200"/>
            </a:xfrm>
            <a:prstGeom prst="triangle">
              <a:avLst>
                <a:gd name="adj" fmla="val 57241"/>
              </a:avLst>
            </a:prstGeom>
            <a:solidFill>
              <a:srgbClr val="F9CF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1" name="Google Shape;931;p93"/>
          <p:cNvSpPr/>
          <p:nvPr/>
        </p:nvSpPr>
        <p:spPr>
          <a:xfrm>
            <a:off x="3200625" y="679447"/>
            <a:ext cx="5943300" cy="10263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93"/>
          <p:cNvSpPr/>
          <p:nvPr/>
        </p:nvSpPr>
        <p:spPr>
          <a:xfrm>
            <a:off x="3200615" y="1705847"/>
            <a:ext cx="5943300" cy="976800"/>
          </a:xfrm>
          <a:prstGeom prst="rect">
            <a:avLst/>
          </a:prstGeom>
          <a:solidFill>
            <a:srgbClr val="FCE7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3"/>
          <p:cNvSpPr/>
          <p:nvPr/>
        </p:nvSpPr>
        <p:spPr>
          <a:xfrm>
            <a:off x="3218475" y="2682672"/>
            <a:ext cx="5943300" cy="947400"/>
          </a:xfrm>
          <a:prstGeom prst="rect">
            <a:avLst/>
          </a:prstGeom>
          <a:solidFill>
            <a:srgbClr val="FADA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93"/>
          <p:cNvSpPr/>
          <p:nvPr/>
        </p:nvSpPr>
        <p:spPr>
          <a:xfrm>
            <a:off x="3218475" y="3629997"/>
            <a:ext cx="5943300" cy="1483800"/>
          </a:xfrm>
          <a:prstGeom prst="rect">
            <a:avLst/>
          </a:prstGeom>
          <a:solidFill>
            <a:srgbClr val="F9CF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93"/>
          <p:cNvSpPr txBox="1"/>
          <p:nvPr/>
        </p:nvSpPr>
        <p:spPr>
          <a:xfrm>
            <a:off x="301025" y="3442375"/>
            <a:ext cx="23133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ID-Tech Communities: innovators from the campus </a:t>
            </a:r>
            <a:endParaRPr sz="2000" b="1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936" name="Google Shape;936;p93"/>
          <p:cNvSpPr/>
          <p:nvPr/>
        </p:nvSpPr>
        <p:spPr>
          <a:xfrm>
            <a:off x="4812990" y="2381741"/>
            <a:ext cx="4272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93"/>
          <p:cNvSpPr txBox="1"/>
          <p:nvPr/>
        </p:nvSpPr>
        <p:spPr>
          <a:xfrm>
            <a:off x="301025" y="301425"/>
            <a:ext cx="21849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1">
                <a:solidFill>
                  <a:srgbClr val="EF86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Collaborative networks of academic institutions working to build India's next-gen identity technology stack </a:t>
            </a:r>
            <a:endParaRPr sz="1600" b="1" i="1">
              <a:solidFill>
                <a:srgbClr val="EF86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38" name="Google Shape;938;p93"/>
          <p:cNvSpPr txBox="1"/>
          <p:nvPr/>
        </p:nvSpPr>
        <p:spPr>
          <a:xfrm>
            <a:off x="3454924" y="698524"/>
            <a:ext cx="446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 Awareness  </a:t>
            </a:r>
            <a:br>
              <a:rPr lang="en" sz="1050" b="0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000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understanding of ID-Tech across campuses — what Aadhaar is, how verifiable credentials work, what's being built at the frontier.</a:t>
            </a:r>
            <a:endParaRPr sz="1000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39" name="Google Shape;939;p93"/>
          <p:cNvSpPr txBox="1"/>
          <p:nvPr/>
        </p:nvSpPr>
        <p:spPr>
          <a:xfrm>
            <a:off x="3454924" y="1886421"/>
            <a:ext cx="446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Enable Research &amp; Development</a:t>
            </a:r>
            <a:br>
              <a:rPr lang="en" sz="1050" b="1" i="0" u="none" strike="noStrike" cap="none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en" sz="1000" i="1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Active experimentation at campus level. Access to Sandbox, open datasets, and SITAA challenges. From final-year projects to PhD theses. </a:t>
            </a:r>
            <a:endParaRPr sz="1000" i="1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40" name="Google Shape;940;p93"/>
          <p:cNvSpPr txBox="1"/>
          <p:nvPr/>
        </p:nvSpPr>
        <p:spPr>
          <a:xfrm>
            <a:off x="3454924" y="2771567"/>
            <a:ext cx="4469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a Talent Pipeline</a:t>
            </a:r>
            <a:endParaRPr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sustained pool of engineers, researchers, and designers who understand identity infrastructure — that industry and government can hire and collaborate with.</a:t>
            </a:r>
            <a:endParaRPr sz="1000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941" name="Google Shape;94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93"/>
          <p:cNvSpPr txBox="1"/>
          <p:nvPr/>
        </p:nvSpPr>
        <p:spPr>
          <a:xfrm>
            <a:off x="301025" y="2193813"/>
            <a:ext cx="235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Research Scholars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Faculty</a:t>
            </a:r>
            <a:endParaRPr sz="12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43" name="Google Shape;943;p93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93"/>
          <p:cNvSpPr/>
          <p:nvPr/>
        </p:nvSpPr>
        <p:spPr>
          <a:xfrm>
            <a:off x="0" y="228600"/>
            <a:ext cx="148800" cy="1171500"/>
          </a:xfrm>
          <a:prstGeom prst="rect">
            <a:avLst/>
          </a:prstGeom>
          <a:solidFill>
            <a:srgbClr val="2841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93"/>
          <p:cNvSpPr txBox="1"/>
          <p:nvPr/>
        </p:nvSpPr>
        <p:spPr>
          <a:xfrm rot="-5400000">
            <a:off x="-323850" y="519151"/>
            <a:ext cx="796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SITAA</a:t>
            </a:r>
            <a:endParaRPr sz="800" b="0" i="0" u="none" strike="noStrike" cap="non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46" name="Google Shape;946;p93"/>
          <p:cNvSpPr txBox="1"/>
          <p:nvPr/>
        </p:nvSpPr>
        <p:spPr>
          <a:xfrm>
            <a:off x="3454924" y="3765618"/>
            <a:ext cx="4469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ID-Tech Roundtable</a:t>
            </a:r>
            <a:endParaRPr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424242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focused roundtable under the theme: “Innovation in Identity Technologies — Emerging Research, Use Cases, and Future Directions.” Bringing together ID-Tech, Cybersecurity, and AI researchers across institutions.</a:t>
            </a:r>
            <a:endParaRPr sz="1000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rgbClr val="42424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9"/>
        </a:solidFill>
        <a:effectLst/>
      </p:bgPr>
    </p:bg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94" title="Group 1948757838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">
            <a:off x="-2825218" y="-3551850"/>
            <a:ext cx="13040736" cy="85213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2" name="Google Shape;952;p94"/>
          <p:cNvGrpSpPr/>
          <p:nvPr/>
        </p:nvGrpSpPr>
        <p:grpSpPr>
          <a:xfrm>
            <a:off x="301025" y="1655372"/>
            <a:ext cx="5043584" cy="3486736"/>
            <a:chOff x="319314" y="-1069604"/>
            <a:chExt cx="7783308" cy="5926800"/>
          </a:xfrm>
        </p:grpSpPr>
        <p:sp>
          <p:nvSpPr>
            <p:cNvPr id="953" name="Google Shape;953;p94"/>
            <p:cNvSpPr/>
            <p:nvPr/>
          </p:nvSpPr>
          <p:spPr>
            <a:xfrm>
              <a:off x="319314" y="-1069604"/>
              <a:ext cx="7783200" cy="5926800"/>
            </a:xfrm>
            <a:prstGeom prst="triangle">
              <a:avLst>
                <a:gd name="adj" fmla="val 57679"/>
              </a:avLst>
            </a:prstGeom>
            <a:solidFill>
              <a:srgbClr val="FDF3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EED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94"/>
            <p:cNvSpPr/>
            <p:nvPr/>
          </p:nvSpPr>
          <p:spPr>
            <a:xfrm>
              <a:off x="319320" y="1444902"/>
              <a:ext cx="7783200" cy="3412200"/>
            </a:xfrm>
            <a:prstGeom prst="triangle">
              <a:avLst>
                <a:gd name="adj" fmla="val 57431"/>
              </a:avLst>
            </a:prstGeom>
            <a:solidFill>
              <a:srgbClr val="FCE7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94"/>
            <p:cNvSpPr/>
            <p:nvPr/>
          </p:nvSpPr>
          <p:spPr>
            <a:xfrm>
              <a:off x="319320" y="2421752"/>
              <a:ext cx="7783200" cy="2433900"/>
            </a:xfrm>
            <a:prstGeom prst="triangle">
              <a:avLst>
                <a:gd name="adj" fmla="val 57949"/>
              </a:avLst>
            </a:prstGeom>
            <a:solidFill>
              <a:srgbClr val="FADAB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94"/>
            <p:cNvSpPr/>
            <p:nvPr/>
          </p:nvSpPr>
          <p:spPr>
            <a:xfrm>
              <a:off x="410022" y="3369076"/>
              <a:ext cx="7692600" cy="1487700"/>
            </a:xfrm>
            <a:prstGeom prst="triangle">
              <a:avLst>
                <a:gd name="adj" fmla="val 57241"/>
              </a:avLst>
            </a:prstGeom>
            <a:solidFill>
              <a:srgbClr val="F9CF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" name="Google Shape;957;p94"/>
          <p:cNvSpPr/>
          <p:nvPr/>
        </p:nvSpPr>
        <p:spPr>
          <a:xfrm>
            <a:off x="3200625" y="1655376"/>
            <a:ext cx="5943300" cy="14832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94"/>
          <p:cNvSpPr/>
          <p:nvPr/>
        </p:nvSpPr>
        <p:spPr>
          <a:xfrm>
            <a:off x="3200627" y="3138752"/>
            <a:ext cx="5943300" cy="574500"/>
          </a:xfrm>
          <a:prstGeom prst="rect">
            <a:avLst/>
          </a:prstGeom>
          <a:solidFill>
            <a:srgbClr val="FCE7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94"/>
          <p:cNvSpPr/>
          <p:nvPr/>
        </p:nvSpPr>
        <p:spPr>
          <a:xfrm>
            <a:off x="3200627" y="3713350"/>
            <a:ext cx="5943300" cy="557100"/>
          </a:xfrm>
          <a:prstGeom prst="rect">
            <a:avLst/>
          </a:prstGeom>
          <a:solidFill>
            <a:srgbClr val="FADA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4"/>
          <p:cNvSpPr/>
          <p:nvPr/>
        </p:nvSpPr>
        <p:spPr>
          <a:xfrm>
            <a:off x="4812990" y="2381741"/>
            <a:ext cx="427200" cy="4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94"/>
          <p:cNvSpPr/>
          <p:nvPr/>
        </p:nvSpPr>
        <p:spPr>
          <a:xfrm>
            <a:off x="3200627" y="4270653"/>
            <a:ext cx="5943300" cy="872700"/>
          </a:xfrm>
          <a:prstGeom prst="rect">
            <a:avLst/>
          </a:prstGeom>
          <a:solidFill>
            <a:srgbClr val="F9CF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94"/>
          <p:cNvSpPr/>
          <p:nvPr/>
        </p:nvSpPr>
        <p:spPr>
          <a:xfrm>
            <a:off x="0" y="1"/>
            <a:ext cx="148800" cy="5143500"/>
          </a:xfrm>
          <a:prstGeom prst="rect">
            <a:avLst/>
          </a:prstGeom>
          <a:solidFill>
            <a:srgbClr val="FDF3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3" name="Google Shape;963;p94"/>
          <p:cNvPicPr preferRelativeResize="0"/>
          <p:nvPr/>
        </p:nvPicPr>
        <p:blipFill rotWithShape="1">
          <a:blip r:embed="rId4">
            <a:alphaModFix/>
          </a:blip>
          <a:srcRect t="-112520" b="112520"/>
          <a:stretch/>
        </p:blipFill>
        <p:spPr>
          <a:xfrm>
            <a:off x="-127390" y="166614"/>
            <a:ext cx="35047563" cy="2361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8138" y="62413"/>
            <a:ext cx="1142286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94"/>
          <p:cNvSpPr txBox="1"/>
          <p:nvPr/>
        </p:nvSpPr>
        <p:spPr>
          <a:xfrm>
            <a:off x="3354567" y="3251460"/>
            <a:ext cx="2403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Explore SITAA</a:t>
            </a:r>
            <a:endParaRPr sz="1600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6" name="Google Shape;966;p94"/>
          <p:cNvSpPr txBox="1"/>
          <p:nvPr/>
        </p:nvSpPr>
        <p:spPr>
          <a:xfrm>
            <a:off x="6277482" y="3230297"/>
            <a:ext cx="24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sitaa.uidai.gov.in</a:t>
            </a:r>
            <a:endParaRPr sz="18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7" name="Google Shape;967;p94"/>
          <p:cNvSpPr txBox="1"/>
          <p:nvPr/>
        </p:nvSpPr>
        <p:spPr>
          <a:xfrm>
            <a:off x="3354577" y="1819050"/>
            <a:ext cx="292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Download the Aadhaar App</a:t>
            </a:r>
            <a:endParaRPr sz="1600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8" name="Google Shape;968;p94"/>
          <p:cNvSpPr txBox="1"/>
          <p:nvPr/>
        </p:nvSpPr>
        <p:spPr>
          <a:xfrm>
            <a:off x="525600" y="430800"/>
            <a:ext cx="1623000" cy="11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28575" rIns="57150" bIns="2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Thank </a:t>
            </a:r>
            <a:endParaRPr sz="3200" b="1">
              <a:solidFill>
                <a:schemeClr val="lt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3200" b="1">
                <a:solidFill>
                  <a:schemeClr val="lt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You!</a:t>
            </a:r>
            <a:endParaRPr sz="3200" b="1">
              <a:solidFill>
                <a:schemeClr val="lt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3200" b="1">
              <a:solidFill>
                <a:schemeClr val="lt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969" name="Google Shape;969;p94"/>
          <p:cNvSpPr txBox="1"/>
          <p:nvPr/>
        </p:nvSpPr>
        <p:spPr>
          <a:xfrm>
            <a:off x="3354577" y="3844186"/>
            <a:ext cx="2922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Access Aadhaar Sandbox</a:t>
            </a:r>
            <a:endParaRPr sz="1600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0" name="Google Shape;970;p94"/>
          <p:cNvSpPr txBox="1"/>
          <p:nvPr/>
        </p:nvSpPr>
        <p:spPr>
          <a:xfrm>
            <a:off x="6277475" y="3813959"/>
            <a:ext cx="267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28418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sandbox.uidai.gov.in</a:t>
            </a:r>
            <a:endParaRPr sz="1800" b="1">
              <a:solidFill>
                <a:srgbClr val="28418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971" name="Google Shape;971;p94" title="Frame 214720629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7775" y="1785725"/>
            <a:ext cx="1237571" cy="1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</TotalTime>
  <Words>1789</Words>
  <Application>Microsoft Office PowerPoint</Application>
  <PresentationFormat>On-screen Show (16:9)</PresentationFormat>
  <Paragraphs>336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34</vt:i4>
      </vt:variant>
    </vt:vector>
  </HeadingPairs>
  <TitlesOfParts>
    <vt:vector size="52" baseType="lpstr">
      <vt:lpstr>Calibri</vt:lpstr>
      <vt:lpstr>Roboto</vt:lpstr>
      <vt:lpstr>Noto Sans</vt:lpstr>
      <vt:lpstr>Inter</vt:lpstr>
      <vt:lpstr>Instrument Sans</vt:lpstr>
      <vt:lpstr>Arial</vt:lpstr>
      <vt:lpstr>Trebuchet MS</vt:lpstr>
      <vt:lpstr>Noto Serif Devanagari</vt:lpstr>
      <vt:lpstr>IBM Plex Sans</vt:lpstr>
      <vt:lpstr>Poppins</vt:lpstr>
      <vt:lpstr>Poppins Medium</vt:lpstr>
      <vt:lpstr>Georgia</vt:lpstr>
      <vt:lpstr>Simple Light</vt:lpstr>
      <vt:lpstr>Office Theme</vt:lpstr>
      <vt:lpstr>Office Theme</vt:lpstr>
      <vt:lpstr>Simple Light</vt:lpstr>
      <vt:lpstr>Simple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 replaces the hassle and safety concerns of your aadhaar being copied and kept.  </vt:lpstr>
      <vt:lpstr>Verified QR access: only authenticated visitors can enter, eliminating fake IDs and spoofed codes for safer societies.</vt:lpstr>
      <vt:lpstr>Zero knowledge proof at concert entries-  The security doesn’t even need to know your name.</vt:lpstr>
      <vt:lpstr>Verify your social media profile with Aadhaar for a trusted identity badge. </vt:lpstr>
      <vt:lpstr>Scan the QR code in physical Aadhaar card and know whether it is a real card.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Abee Narayan</cp:lastModifiedBy>
  <cp:revision>8</cp:revision>
  <dcterms:modified xsi:type="dcterms:W3CDTF">2026-06-08T12:45:40Z</dcterms:modified>
</cp:coreProperties>
</file>